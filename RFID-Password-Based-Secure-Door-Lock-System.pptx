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4630400" cy="8229600"/>
  <p:notesSz cx="8229600" cy="14630400"/>
  <p:embeddedFontLst>
    <p:embeddedFont>
      <p:font typeface="PT Serif"/>
      <p:regular r:id="rId25"/>
    </p:embeddedFont>
    <p:embeddedFont>
      <p:font typeface="PT Serif"/>
      <p:regular r:id="rId26"/>
    </p:embeddedFont>
    <p:embeddedFont>
      <p:font typeface="PT Serif"/>
      <p:regular r:id="rId27"/>
    </p:embeddedFont>
    <p:embeddedFont>
      <p:font typeface="PT Serif"/>
      <p:regular r:id="rId28"/>
    </p:embeddedFont>
    <p:embeddedFont>
      <p:font typeface="DM Sans"/>
      <p:regular r:id="rId29"/>
    </p:embeddedFont>
    <p:embeddedFont>
      <p:font typeface="DM Sans"/>
      <p:regular r:id="rId30"/>
    </p:embeddedFont>
    <p:embeddedFont>
      <p:font typeface="DM Sans"/>
      <p:regular r:id="rId31"/>
    </p:embeddedFont>
    <p:embeddedFont>
      <p:font typeface="DM Sans"/>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 Id="rId27" Type="http://schemas.openxmlformats.org/officeDocument/2006/relationships/font" Target="fonts/font3.fntdata"/><Relationship Id="rId28" Type="http://schemas.openxmlformats.org/officeDocument/2006/relationships/font" Target="fonts/font4.fntdata"/><Relationship Id="rId29" Type="http://schemas.openxmlformats.org/officeDocument/2006/relationships/font" Target="fonts/font5.fntdata"/><Relationship Id="rId30" Type="http://schemas.openxmlformats.org/officeDocument/2006/relationships/font" Target="fonts/font6.fntdata"/><Relationship Id="rId31" Type="http://schemas.openxmlformats.org/officeDocument/2006/relationships/font" Target="fonts/font7.fntdata"/><Relationship Id="rId3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7.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8.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9.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66944"/>
            <a:ext cx="7556421" cy="1488519"/>
          </a:xfrm>
          <a:prstGeom prst="rect">
            <a:avLst/>
          </a:prstGeom>
          <a:noFill/>
          <a:ln/>
        </p:spPr>
        <p:txBody>
          <a:bodyPr wrap="squar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RFID + Password-Based Secure Door Lock System</a:t>
            </a:r>
            <a:endParaRPr lang="en-US" sz="4650" dirty="0"/>
          </a:p>
        </p:txBody>
      </p:sp>
      <p:sp>
        <p:nvSpPr>
          <p:cNvPr id="4" name="Text 1"/>
          <p:cNvSpPr/>
          <p:nvPr/>
        </p:nvSpPr>
        <p:spPr>
          <a:xfrm>
            <a:off x="6280190" y="3095625"/>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 secure door lock system using RFID and password authentication.</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t>
            </a:r>
            <a:endParaRPr lang="en-US" sz="1750" dirty="0"/>
          </a:p>
        </p:txBody>
      </p:sp>
      <p:sp>
        <p:nvSpPr>
          <p:cNvPr id="5" name="Text 2"/>
          <p:cNvSpPr/>
          <p:nvPr/>
        </p:nvSpPr>
        <p:spPr>
          <a:xfrm>
            <a:off x="6280190" y="4076581"/>
            <a:ext cx="7556421" cy="453509"/>
          </a:xfrm>
          <a:prstGeom prst="rect">
            <a:avLst/>
          </a:prstGeom>
          <a:noFill/>
          <a:ln/>
        </p:spPr>
        <p:txBody>
          <a:bodyPr wrap="none" lIns="0" tIns="0" rIns="0" bIns="0" rtlCol="0" anchor="t"/>
          <a:lstStyle/>
          <a:p>
            <a:pPr algn="l" indent="0" marL="0">
              <a:lnSpc>
                <a:spcPts val="3550"/>
              </a:lnSpc>
              <a:buNone/>
            </a:pPr>
            <a:r>
              <a:rPr lang="en-US" sz="2200" dirty="0">
                <a:solidFill>
                  <a:srgbClr val="383838"/>
                </a:solidFill>
                <a:latin typeface="DM Sans" pitchFamily="34" charset="0"/>
                <a:ea typeface="DM Sans" pitchFamily="34" charset="-122"/>
                <a:cs typeface="DM Sans" pitchFamily="34" charset="-120"/>
              </a:rPr>
              <a:t>Group Members : </a:t>
            </a:r>
            <a:endParaRPr lang="en-US" sz="2200" dirty="0"/>
          </a:p>
        </p:txBody>
      </p:sp>
      <p:sp>
        <p:nvSpPr>
          <p:cNvPr id="6" name="Text 3"/>
          <p:cNvSpPr/>
          <p:nvPr/>
        </p:nvSpPr>
        <p:spPr>
          <a:xfrm>
            <a:off x="6280190" y="4785241"/>
            <a:ext cx="7556421" cy="217741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Adwait Bhalerao - 1262241696</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Anshul Patil - 1262242165</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Avani Srivastava - 1262243686</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Prathmesh Borkar - 1262240873</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Shreyaa Pandey - 1262242081</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Shreyas Newe - 1262241387</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449467"/>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Problem Statement</a:t>
            </a:r>
            <a:endParaRPr lang="en-US" sz="4650" dirty="0"/>
          </a:p>
        </p:txBody>
      </p:sp>
      <p:sp>
        <p:nvSpPr>
          <p:cNvPr id="4" name="Text 1"/>
          <p:cNvSpPr/>
          <p:nvPr/>
        </p:nvSpPr>
        <p:spPr>
          <a:xfrm>
            <a:off x="6280190" y="2533888"/>
            <a:ext cx="7556421"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5" name="Text 2"/>
          <p:cNvSpPr/>
          <p:nvPr/>
        </p:nvSpPr>
        <p:spPr>
          <a:xfrm>
            <a:off x="6280190" y="3151942"/>
            <a:ext cx="7556421" cy="3628072"/>
          </a:xfrm>
          <a:prstGeom prst="rect">
            <a:avLst/>
          </a:prstGeom>
          <a:noFill/>
          <a:ln/>
        </p:spPr>
        <p:txBody>
          <a:bodyPr wrap="square" lIns="0" tIns="0" rIns="0" bIns="0" rtlCol="0" anchor="t"/>
          <a:lstStyle/>
          <a:p>
            <a:pPr algn="l" indent="0" marL="0">
              <a:lnSpc>
                <a:spcPts val="3550"/>
              </a:lnSpc>
              <a:buNone/>
            </a:pPr>
            <a:r>
              <a:rPr lang="en-US" sz="2200" dirty="0">
                <a:solidFill>
                  <a:srgbClr val="383838"/>
                </a:solidFill>
                <a:latin typeface="DM Sans" pitchFamily="34" charset="0"/>
                <a:ea typeface="DM Sans" pitchFamily="34" charset="-122"/>
                <a:cs typeface="DM Sans" pitchFamily="34" charset="-120"/>
              </a:rPr>
              <a:t>Traditional lock-and-key systems have security risks, such as key duplication, loss, and unauthorized access. This project aims to develop an RFID-based secure door lock system that uses RFID cards or tags for authentication. Only authorized users with registered RFID tags can unlock the door, enhancing security and convenience. This system can be used in homes, offices, and restricted areas to prevent unauthorized access.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53428"/>
            <a:ext cx="6823234" cy="483751"/>
          </a:xfrm>
          <a:prstGeom prst="rect">
            <a:avLst/>
          </a:prstGeom>
          <a:noFill/>
          <a:ln/>
        </p:spPr>
        <p:txBody>
          <a:bodyPr wrap="none" lIns="0" tIns="0" rIns="0" bIns="0" rtlCol="0" anchor="t"/>
          <a:lstStyle/>
          <a:p>
            <a:pPr algn="l" indent="0" marL="0">
              <a:lnSpc>
                <a:spcPts val="3800"/>
              </a:lnSpc>
              <a:buNone/>
            </a:pPr>
            <a:r>
              <a:rPr lang="en-US" sz="3000" dirty="0">
                <a:solidFill>
                  <a:srgbClr val="020202"/>
                </a:solidFill>
                <a:latin typeface="PT Serif" pitchFamily="34" charset="0"/>
                <a:ea typeface="PT Serif" pitchFamily="34" charset="-122"/>
                <a:cs typeface="PT Serif" pitchFamily="34" charset="-120"/>
              </a:rPr>
              <a:t>Alternative Solutions &amp; Their Problems</a:t>
            </a:r>
            <a:endParaRPr lang="en-US" sz="3000" dirty="0"/>
          </a:p>
        </p:txBody>
      </p:sp>
      <p:pic>
        <p:nvPicPr>
          <p:cNvPr id="3" name="Image 0" descr="preencoded.png">    </p:cNvPr>
          <p:cNvPicPr>
            <a:picLocks noChangeAspect="1"/>
          </p:cNvPicPr>
          <p:nvPr/>
        </p:nvPicPr>
        <p:blipFill>
          <a:blip r:embed="rId1"/>
          <a:stretch>
            <a:fillRect/>
          </a:stretch>
        </p:blipFill>
        <p:spPr>
          <a:xfrm>
            <a:off x="1903571" y="1624132"/>
            <a:ext cx="4121944" cy="5686187"/>
          </a:xfrm>
          <a:prstGeom prst="rect">
            <a:avLst/>
          </a:prstGeom>
        </p:spPr>
      </p:pic>
      <p:sp>
        <p:nvSpPr>
          <p:cNvPr id="4" name="Text 1"/>
          <p:cNvSpPr/>
          <p:nvPr/>
        </p:nvSpPr>
        <p:spPr>
          <a:xfrm>
            <a:off x="7502604" y="2295525"/>
            <a:ext cx="3870246" cy="483751"/>
          </a:xfrm>
          <a:prstGeom prst="rect">
            <a:avLst/>
          </a:prstGeom>
          <a:noFill/>
          <a:ln/>
        </p:spPr>
        <p:txBody>
          <a:bodyPr wrap="none" lIns="0" tIns="0" rIns="0" bIns="0" rtlCol="0" anchor="t"/>
          <a:lstStyle/>
          <a:p>
            <a:pPr algn="l" indent="0" marL="0">
              <a:lnSpc>
                <a:spcPts val="3800"/>
              </a:lnSpc>
              <a:buNone/>
            </a:pPr>
            <a:r>
              <a:rPr lang="en-US" sz="3000" dirty="0">
                <a:solidFill>
                  <a:srgbClr val="020202"/>
                </a:solidFill>
                <a:latin typeface="PT Serif" pitchFamily="34" charset="0"/>
                <a:ea typeface="PT Serif" pitchFamily="34" charset="-122"/>
                <a:cs typeface="PT Serif" pitchFamily="34" charset="-120"/>
              </a:rPr>
              <a:t>Keypad Lock System</a:t>
            </a:r>
            <a:endParaRPr lang="en-US" sz="3000" dirty="0"/>
          </a:p>
        </p:txBody>
      </p:sp>
      <p:sp>
        <p:nvSpPr>
          <p:cNvPr id="5" name="Text 2"/>
          <p:cNvSpPr/>
          <p:nvPr/>
        </p:nvSpPr>
        <p:spPr>
          <a:xfrm>
            <a:off x="7502604" y="2926675"/>
            <a:ext cx="6341626" cy="235744"/>
          </a:xfrm>
          <a:prstGeom prst="rect">
            <a:avLst/>
          </a:prstGeom>
          <a:noFill/>
          <a:ln/>
        </p:spPr>
        <p:txBody>
          <a:bodyPr wrap="none" lIns="0" tIns="0" rIns="0" bIns="0" rtlCol="0" anchor="t"/>
          <a:lstStyle/>
          <a:p>
            <a:pPr algn="l" indent="0" marL="0">
              <a:lnSpc>
                <a:spcPts val="1850"/>
              </a:lnSpc>
              <a:buNone/>
            </a:pPr>
            <a:endParaRPr lang="en-US" sz="1150" dirty="0"/>
          </a:p>
        </p:txBody>
      </p:sp>
      <p:sp>
        <p:nvSpPr>
          <p:cNvPr id="6" name="Text 3"/>
          <p:cNvSpPr/>
          <p:nvPr/>
        </p:nvSpPr>
        <p:spPr>
          <a:xfrm>
            <a:off x="7502604" y="3309818"/>
            <a:ext cx="2322076" cy="290155"/>
          </a:xfrm>
          <a:prstGeom prst="rect">
            <a:avLst/>
          </a:prstGeom>
          <a:noFill/>
          <a:ln/>
        </p:spPr>
        <p:txBody>
          <a:bodyPr wrap="none" lIns="0" tIns="0" rIns="0" bIns="0" rtlCol="0" anchor="t"/>
          <a:lstStyle/>
          <a:p>
            <a:pPr algn="l" indent="0" marL="0">
              <a:lnSpc>
                <a:spcPts val="2250"/>
              </a:lnSpc>
              <a:buNone/>
            </a:pPr>
            <a:r>
              <a:rPr lang="en-US" sz="1800" dirty="0">
                <a:solidFill>
                  <a:srgbClr val="020202"/>
                </a:solidFill>
                <a:latin typeface="PT Serif" pitchFamily="34" charset="0"/>
                <a:ea typeface="PT Serif" pitchFamily="34" charset="-122"/>
                <a:cs typeface="PT Serif" pitchFamily="34" charset="-120"/>
              </a:rPr>
              <a:t>Pros  </a:t>
            </a:r>
            <a:endParaRPr lang="en-US" sz="1800" dirty="0"/>
          </a:p>
        </p:txBody>
      </p:sp>
      <p:sp>
        <p:nvSpPr>
          <p:cNvPr id="7" name="Text 4"/>
          <p:cNvSpPr/>
          <p:nvPr/>
        </p:nvSpPr>
        <p:spPr>
          <a:xfrm>
            <a:off x="7502604" y="3747373"/>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Cost-Effective</a:t>
            </a:r>
            <a:endParaRPr lang="en-US" sz="1150" dirty="0"/>
          </a:p>
        </p:txBody>
      </p:sp>
      <p:sp>
        <p:nvSpPr>
          <p:cNvPr id="8" name="Text 5"/>
          <p:cNvSpPr/>
          <p:nvPr/>
        </p:nvSpPr>
        <p:spPr>
          <a:xfrm>
            <a:off x="7502604" y="4093726"/>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No need of a physical card</a:t>
            </a:r>
            <a:endParaRPr lang="en-US" sz="1150" dirty="0"/>
          </a:p>
        </p:txBody>
      </p:sp>
      <p:sp>
        <p:nvSpPr>
          <p:cNvPr id="9" name="Text 6"/>
          <p:cNvSpPr/>
          <p:nvPr/>
        </p:nvSpPr>
        <p:spPr>
          <a:xfrm>
            <a:off x="7502604" y="4440079"/>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Easy to use</a:t>
            </a:r>
            <a:endParaRPr lang="en-US" sz="1150" dirty="0"/>
          </a:p>
        </p:txBody>
      </p:sp>
      <p:sp>
        <p:nvSpPr>
          <p:cNvPr id="10" name="Text 7"/>
          <p:cNvSpPr/>
          <p:nvPr/>
        </p:nvSpPr>
        <p:spPr>
          <a:xfrm>
            <a:off x="7502604" y="4867513"/>
            <a:ext cx="6341626" cy="294799"/>
          </a:xfrm>
          <a:prstGeom prst="rect">
            <a:avLst/>
          </a:prstGeom>
          <a:noFill/>
          <a:ln/>
        </p:spPr>
        <p:txBody>
          <a:bodyPr wrap="none" lIns="0" tIns="0" rIns="0" bIns="0" rtlCol="0" anchor="t"/>
          <a:lstStyle/>
          <a:p>
            <a:pPr algn="l" indent="0" marL="0">
              <a:lnSpc>
                <a:spcPts val="2300"/>
              </a:lnSpc>
              <a:buNone/>
            </a:pPr>
            <a:endParaRPr lang="en-US" sz="1450" dirty="0"/>
          </a:p>
        </p:txBody>
      </p:sp>
      <p:sp>
        <p:nvSpPr>
          <p:cNvPr id="11" name="Text 8"/>
          <p:cNvSpPr/>
          <p:nvPr/>
        </p:nvSpPr>
        <p:spPr>
          <a:xfrm>
            <a:off x="7502604" y="5309711"/>
            <a:ext cx="2322076" cy="290155"/>
          </a:xfrm>
          <a:prstGeom prst="rect">
            <a:avLst/>
          </a:prstGeom>
          <a:noFill/>
          <a:ln/>
        </p:spPr>
        <p:txBody>
          <a:bodyPr wrap="none" lIns="0" tIns="0" rIns="0" bIns="0" rtlCol="0" anchor="t"/>
          <a:lstStyle/>
          <a:p>
            <a:pPr algn="l" indent="0" marL="0">
              <a:lnSpc>
                <a:spcPts val="2250"/>
              </a:lnSpc>
              <a:buNone/>
            </a:pPr>
            <a:r>
              <a:rPr lang="en-US" sz="1800" dirty="0">
                <a:solidFill>
                  <a:srgbClr val="020202"/>
                </a:solidFill>
                <a:latin typeface="PT Serif" pitchFamily="34" charset="0"/>
                <a:ea typeface="PT Serif" pitchFamily="34" charset="-122"/>
                <a:cs typeface="PT Serif" pitchFamily="34" charset="-120"/>
              </a:rPr>
              <a:t>Cons</a:t>
            </a:r>
            <a:endParaRPr lang="en-US" sz="1800" dirty="0"/>
          </a:p>
        </p:txBody>
      </p:sp>
      <p:sp>
        <p:nvSpPr>
          <p:cNvPr id="12" name="Text 9"/>
          <p:cNvSpPr/>
          <p:nvPr/>
        </p:nvSpPr>
        <p:spPr>
          <a:xfrm>
            <a:off x="7502604" y="5747266"/>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Can be brute forced easily</a:t>
            </a:r>
            <a:endParaRPr lang="en-US" sz="1150" dirty="0"/>
          </a:p>
        </p:txBody>
      </p:sp>
      <p:sp>
        <p:nvSpPr>
          <p:cNvPr id="13" name="Text 10"/>
          <p:cNvSpPr/>
          <p:nvPr/>
        </p:nvSpPr>
        <p:spPr>
          <a:xfrm>
            <a:off x="7502604" y="6093619"/>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Passwords can be shared or stolen</a:t>
            </a:r>
            <a:endParaRPr lang="en-US" sz="1150" dirty="0"/>
          </a:p>
        </p:txBody>
      </p:sp>
      <p:sp>
        <p:nvSpPr>
          <p:cNvPr id="14" name="Text 11"/>
          <p:cNvSpPr/>
          <p:nvPr/>
        </p:nvSpPr>
        <p:spPr>
          <a:xfrm>
            <a:off x="7502604" y="6439972"/>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Needs regular code changes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28186"/>
            <a:ext cx="6823234" cy="483751"/>
          </a:xfrm>
          <a:prstGeom prst="rect">
            <a:avLst/>
          </a:prstGeom>
          <a:noFill/>
          <a:ln/>
        </p:spPr>
        <p:txBody>
          <a:bodyPr wrap="none" lIns="0" tIns="0" rIns="0" bIns="0" rtlCol="0" anchor="t"/>
          <a:lstStyle/>
          <a:p>
            <a:pPr algn="l" indent="0" marL="0">
              <a:lnSpc>
                <a:spcPts val="3800"/>
              </a:lnSpc>
              <a:buNone/>
            </a:pPr>
            <a:r>
              <a:rPr lang="en-US" sz="3000" dirty="0">
                <a:solidFill>
                  <a:srgbClr val="020202"/>
                </a:solidFill>
                <a:latin typeface="PT Serif" pitchFamily="34" charset="0"/>
                <a:ea typeface="PT Serif" pitchFamily="34" charset="-122"/>
                <a:cs typeface="PT Serif" pitchFamily="34" charset="-120"/>
              </a:rPr>
              <a:t>Alternative Solutions &amp; Their Problems</a:t>
            </a:r>
            <a:endParaRPr lang="en-US" sz="3000" dirty="0"/>
          </a:p>
        </p:txBody>
      </p:sp>
      <p:pic>
        <p:nvPicPr>
          <p:cNvPr id="3" name="Image 0" descr="preencoded.png">    </p:cNvPr>
          <p:cNvPicPr>
            <a:picLocks noChangeAspect="1"/>
          </p:cNvPicPr>
          <p:nvPr/>
        </p:nvPicPr>
        <p:blipFill>
          <a:blip r:embed="rId1"/>
          <a:stretch>
            <a:fillRect/>
          </a:stretch>
        </p:blipFill>
        <p:spPr>
          <a:xfrm>
            <a:off x="1903571" y="1598890"/>
            <a:ext cx="4121944" cy="5736550"/>
          </a:xfrm>
          <a:prstGeom prst="rect">
            <a:avLst/>
          </a:prstGeom>
        </p:spPr>
      </p:pic>
      <p:sp>
        <p:nvSpPr>
          <p:cNvPr id="4" name="Text 1"/>
          <p:cNvSpPr/>
          <p:nvPr/>
        </p:nvSpPr>
        <p:spPr>
          <a:xfrm>
            <a:off x="7502604" y="2527578"/>
            <a:ext cx="4373404" cy="483751"/>
          </a:xfrm>
          <a:prstGeom prst="rect">
            <a:avLst/>
          </a:prstGeom>
          <a:noFill/>
          <a:ln/>
        </p:spPr>
        <p:txBody>
          <a:bodyPr wrap="none" lIns="0" tIns="0" rIns="0" bIns="0" rtlCol="0" anchor="t"/>
          <a:lstStyle/>
          <a:p>
            <a:pPr algn="l" indent="0" marL="0">
              <a:lnSpc>
                <a:spcPts val="3800"/>
              </a:lnSpc>
              <a:buNone/>
            </a:pPr>
            <a:r>
              <a:rPr lang="en-US" sz="3000" dirty="0">
                <a:solidFill>
                  <a:srgbClr val="020202"/>
                </a:solidFill>
                <a:latin typeface="PT Serif" pitchFamily="34" charset="0"/>
                <a:ea typeface="PT Serif" pitchFamily="34" charset="-122"/>
                <a:cs typeface="PT Serif" pitchFamily="34" charset="-120"/>
              </a:rPr>
              <a:t> Face Recognition System</a:t>
            </a:r>
            <a:endParaRPr lang="en-US" sz="3000" dirty="0"/>
          </a:p>
        </p:txBody>
      </p:sp>
      <p:sp>
        <p:nvSpPr>
          <p:cNvPr id="5" name="Text 2"/>
          <p:cNvSpPr/>
          <p:nvPr/>
        </p:nvSpPr>
        <p:spPr>
          <a:xfrm>
            <a:off x="7502604" y="3158728"/>
            <a:ext cx="2322076" cy="290155"/>
          </a:xfrm>
          <a:prstGeom prst="rect">
            <a:avLst/>
          </a:prstGeom>
          <a:noFill/>
          <a:ln/>
        </p:spPr>
        <p:txBody>
          <a:bodyPr wrap="none" lIns="0" tIns="0" rIns="0" bIns="0" rtlCol="0" anchor="t"/>
          <a:lstStyle/>
          <a:p>
            <a:pPr algn="l" indent="0" marL="0">
              <a:lnSpc>
                <a:spcPts val="2250"/>
              </a:lnSpc>
              <a:buNone/>
            </a:pPr>
            <a:r>
              <a:rPr lang="en-US" sz="1800" dirty="0">
                <a:solidFill>
                  <a:srgbClr val="020202"/>
                </a:solidFill>
                <a:latin typeface="PT Serif" pitchFamily="34" charset="0"/>
                <a:ea typeface="PT Serif" pitchFamily="34" charset="-122"/>
                <a:cs typeface="PT Serif" pitchFamily="34" charset="-120"/>
              </a:rPr>
              <a:t>Pros</a:t>
            </a:r>
            <a:endParaRPr lang="en-US" sz="1800" dirty="0"/>
          </a:p>
        </p:txBody>
      </p:sp>
      <p:sp>
        <p:nvSpPr>
          <p:cNvPr id="6" name="Text 3"/>
          <p:cNvSpPr/>
          <p:nvPr/>
        </p:nvSpPr>
        <p:spPr>
          <a:xfrm>
            <a:off x="7502604" y="3596283"/>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No Need for Physical Cards or Passwords</a:t>
            </a:r>
            <a:endParaRPr lang="en-US" sz="1150" dirty="0"/>
          </a:p>
        </p:txBody>
      </p:sp>
      <p:sp>
        <p:nvSpPr>
          <p:cNvPr id="7" name="Text 4"/>
          <p:cNvSpPr/>
          <p:nvPr/>
        </p:nvSpPr>
        <p:spPr>
          <a:xfrm>
            <a:off x="7502604" y="3942636"/>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Fast &amp; Contactless Authentication</a:t>
            </a:r>
            <a:endParaRPr lang="en-US" sz="1150" dirty="0"/>
          </a:p>
        </p:txBody>
      </p:sp>
      <p:sp>
        <p:nvSpPr>
          <p:cNvPr id="8" name="Text 5"/>
          <p:cNvSpPr/>
          <p:nvPr/>
        </p:nvSpPr>
        <p:spPr>
          <a:xfrm>
            <a:off x="7502604" y="4288988"/>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Easy to use</a:t>
            </a:r>
            <a:endParaRPr lang="en-US" sz="1150" dirty="0"/>
          </a:p>
        </p:txBody>
      </p:sp>
      <p:sp>
        <p:nvSpPr>
          <p:cNvPr id="9" name="Text 6"/>
          <p:cNvSpPr/>
          <p:nvPr/>
        </p:nvSpPr>
        <p:spPr>
          <a:xfrm>
            <a:off x="7502604" y="4731187"/>
            <a:ext cx="2322076" cy="290155"/>
          </a:xfrm>
          <a:prstGeom prst="rect">
            <a:avLst/>
          </a:prstGeom>
          <a:noFill/>
          <a:ln/>
        </p:spPr>
        <p:txBody>
          <a:bodyPr wrap="none" lIns="0" tIns="0" rIns="0" bIns="0" rtlCol="0" anchor="t"/>
          <a:lstStyle/>
          <a:p>
            <a:pPr algn="l" indent="0" marL="0">
              <a:lnSpc>
                <a:spcPts val="2250"/>
              </a:lnSpc>
              <a:buNone/>
            </a:pPr>
            <a:r>
              <a:rPr lang="en-US" sz="1800" dirty="0">
                <a:solidFill>
                  <a:srgbClr val="020202"/>
                </a:solidFill>
                <a:latin typeface="PT Serif" pitchFamily="34" charset="0"/>
                <a:ea typeface="PT Serif" pitchFamily="34" charset="-122"/>
                <a:cs typeface="PT Serif" pitchFamily="34" charset="-120"/>
              </a:rPr>
              <a:t>Cons</a:t>
            </a:r>
            <a:endParaRPr lang="en-US" sz="1800" dirty="0"/>
          </a:p>
        </p:txBody>
      </p:sp>
      <p:sp>
        <p:nvSpPr>
          <p:cNvPr id="10" name="Text 7"/>
          <p:cNvSpPr/>
          <p:nvPr/>
        </p:nvSpPr>
        <p:spPr>
          <a:xfrm>
            <a:off x="7502604" y="5168741"/>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High Processing Power Required</a:t>
            </a:r>
            <a:endParaRPr lang="en-US" sz="1150" dirty="0"/>
          </a:p>
        </p:txBody>
      </p:sp>
      <p:sp>
        <p:nvSpPr>
          <p:cNvPr id="11" name="Text 8"/>
          <p:cNvSpPr/>
          <p:nvPr/>
        </p:nvSpPr>
        <p:spPr>
          <a:xfrm>
            <a:off x="7502604" y="5515094"/>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Can Be Fooled by a Photo/Video</a:t>
            </a:r>
            <a:endParaRPr lang="en-US" sz="1150" dirty="0"/>
          </a:p>
        </p:txBody>
      </p:sp>
      <p:sp>
        <p:nvSpPr>
          <p:cNvPr id="12" name="Text 9"/>
          <p:cNvSpPr/>
          <p:nvPr/>
        </p:nvSpPr>
        <p:spPr>
          <a:xfrm>
            <a:off x="7502604" y="5861447"/>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Expensive to Implement</a:t>
            </a:r>
            <a:endParaRPr lang="en-US" sz="1150" dirty="0"/>
          </a:p>
        </p:txBody>
      </p:sp>
      <p:sp>
        <p:nvSpPr>
          <p:cNvPr id="13" name="Text 10"/>
          <p:cNvSpPr/>
          <p:nvPr/>
        </p:nvSpPr>
        <p:spPr>
          <a:xfrm>
            <a:off x="7502604" y="6207800"/>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Lighting &amp; Angle Issues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262783"/>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Vulnerability</a:t>
            </a:r>
            <a:endParaRPr lang="en-US" sz="4650" dirty="0"/>
          </a:p>
        </p:txBody>
      </p:sp>
      <p:sp>
        <p:nvSpPr>
          <p:cNvPr id="4" name="Text 1"/>
          <p:cNvSpPr/>
          <p:nvPr/>
        </p:nvSpPr>
        <p:spPr>
          <a:xfrm>
            <a:off x="793790" y="3347204"/>
            <a:ext cx="7556421" cy="1451610"/>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In 2017 researchers at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Bkav Security</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created a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3D-printed mask</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with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silicone and paper eyes</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It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tricked Face ID</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and unlocked the phone. Apple had claimed Face ID was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secure against masks</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but this proved otherwise.</a:t>
            </a:r>
            <a:endParaRPr lang="en-US" sz="1750" dirty="0"/>
          </a:p>
        </p:txBody>
      </p:sp>
      <p:sp>
        <p:nvSpPr>
          <p:cNvPr id="5" name="Text 2"/>
          <p:cNvSpPr/>
          <p:nvPr/>
        </p:nvSpPr>
        <p:spPr>
          <a:xfrm>
            <a:off x="793790" y="4878110"/>
            <a:ext cx="7556421"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In 2018 a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user’s brother</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(who looked similar) was able to unlock the phone. The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AI mistakenly recognized them as the same person</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This showed that </a:t>
            </a:r>
            <a:pPr algn="l" indent="0" marL="0">
              <a:lnSpc>
                <a:spcPts val="2850"/>
              </a:lnSpc>
              <a:buNone/>
            </a:pPr>
            <a:r>
              <a:rPr lang="en-US" sz="1750" b="1" dirty="0">
                <a:solidFill>
                  <a:srgbClr val="383838"/>
                </a:solidFill>
                <a:latin typeface="DM Sans" pitchFamily="34" charset="0"/>
                <a:ea typeface="DM Sans" pitchFamily="34" charset="-122"/>
                <a:cs typeface="DM Sans" pitchFamily="34" charset="-120"/>
              </a:rPr>
              <a:t>poor facial differentiation weakens security</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39008"/>
            <a:ext cx="6823234" cy="483751"/>
          </a:xfrm>
          <a:prstGeom prst="rect">
            <a:avLst/>
          </a:prstGeom>
          <a:noFill/>
          <a:ln/>
        </p:spPr>
        <p:txBody>
          <a:bodyPr wrap="none" lIns="0" tIns="0" rIns="0" bIns="0" rtlCol="0" anchor="t"/>
          <a:lstStyle/>
          <a:p>
            <a:pPr algn="l" indent="0" marL="0">
              <a:lnSpc>
                <a:spcPts val="3800"/>
              </a:lnSpc>
              <a:buNone/>
            </a:pPr>
            <a:r>
              <a:rPr lang="en-US" sz="3000" dirty="0">
                <a:solidFill>
                  <a:srgbClr val="020202"/>
                </a:solidFill>
                <a:latin typeface="PT Serif" pitchFamily="34" charset="0"/>
                <a:ea typeface="PT Serif" pitchFamily="34" charset="-122"/>
                <a:cs typeface="PT Serif" pitchFamily="34" charset="-120"/>
              </a:rPr>
              <a:t>Alternative Solutions &amp; Their Problems</a:t>
            </a:r>
            <a:endParaRPr lang="en-US" sz="3000" dirty="0"/>
          </a:p>
        </p:txBody>
      </p:sp>
      <p:pic>
        <p:nvPicPr>
          <p:cNvPr id="3" name="Image 0" descr="preencoded.png">    </p:cNvPr>
          <p:cNvPicPr>
            <a:picLocks noChangeAspect="1"/>
          </p:cNvPicPr>
          <p:nvPr/>
        </p:nvPicPr>
        <p:blipFill>
          <a:blip r:embed="rId1"/>
          <a:stretch>
            <a:fillRect/>
          </a:stretch>
        </p:blipFill>
        <p:spPr>
          <a:xfrm>
            <a:off x="1903571" y="1509713"/>
            <a:ext cx="4121944" cy="5915025"/>
          </a:xfrm>
          <a:prstGeom prst="rect">
            <a:avLst/>
          </a:prstGeom>
        </p:spPr>
      </p:pic>
      <p:sp>
        <p:nvSpPr>
          <p:cNvPr id="4" name="Text 1"/>
          <p:cNvSpPr/>
          <p:nvPr/>
        </p:nvSpPr>
        <p:spPr>
          <a:xfrm>
            <a:off x="7502604" y="2700814"/>
            <a:ext cx="3870246" cy="483751"/>
          </a:xfrm>
          <a:prstGeom prst="rect">
            <a:avLst/>
          </a:prstGeom>
          <a:noFill/>
          <a:ln/>
        </p:spPr>
        <p:txBody>
          <a:bodyPr wrap="none" lIns="0" tIns="0" rIns="0" bIns="0" rtlCol="0" anchor="t"/>
          <a:lstStyle/>
          <a:p>
            <a:pPr algn="l" indent="0" marL="0">
              <a:lnSpc>
                <a:spcPts val="3800"/>
              </a:lnSpc>
              <a:buNone/>
            </a:pPr>
            <a:r>
              <a:rPr lang="en-US" sz="3000" dirty="0">
                <a:solidFill>
                  <a:srgbClr val="020202"/>
                </a:solidFill>
                <a:latin typeface="PT Serif" pitchFamily="34" charset="0"/>
                <a:ea typeface="PT Serif" pitchFamily="34" charset="-122"/>
                <a:cs typeface="PT Serif" pitchFamily="34" charset="-120"/>
              </a:rPr>
              <a:t>RFID only System</a:t>
            </a:r>
            <a:endParaRPr lang="en-US" sz="3000" dirty="0"/>
          </a:p>
        </p:txBody>
      </p:sp>
      <p:sp>
        <p:nvSpPr>
          <p:cNvPr id="5" name="Text 2"/>
          <p:cNvSpPr/>
          <p:nvPr/>
        </p:nvSpPr>
        <p:spPr>
          <a:xfrm>
            <a:off x="7502604" y="3331964"/>
            <a:ext cx="2322076" cy="290155"/>
          </a:xfrm>
          <a:prstGeom prst="rect">
            <a:avLst/>
          </a:prstGeom>
          <a:noFill/>
          <a:ln/>
        </p:spPr>
        <p:txBody>
          <a:bodyPr wrap="none" lIns="0" tIns="0" rIns="0" bIns="0" rtlCol="0" anchor="t"/>
          <a:lstStyle/>
          <a:p>
            <a:pPr algn="l" indent="0" marL="0">
              <a:lnSpc>
                <a:spcPts val="2250"/>
              </a:lnSpc>
              <a:buNone/>
            </a:pPr>
            <a:r>
              <a:rPr lang="en-US" sz="1800" dirty="0">
                <a:solidFill>
                  <a:srgbClr val="020202"/>
                </a:solidFill>
                <a:latin typeface="PT Serif" pitchFamily="34" charset="0"/>
                <a:ea typeface="PT Serif" pitchFamily="34" charset="-122"/>
                <a:cs typeface="PT Serif" pitchFamily="34" charset="-120"/>
              </a:rPr>
              <a:t>Pros</a:t>
            </a:r>
            <a:endParaRPr lang="en-US" sz="1800" dirty="0"/>
          </a:p>
        </p:txBody>
      </p:sp>
      <p:sp>
        <p:nvSpPr>
          <p:cNvPr id="6" name="Text 3"/>
          <p:cNvSpPr/>
          <p:nvPr/>
        </p:nvSpPr>
        <p:spPr>
          <a:xfrm>
            <a:off x="7502604" y="3769519"/>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Fast &amp; Contactless Access</a:t>
            </a:r>
            <a:endParaRPr lang="en-US" sz="1150" dirty="0"/>
          </a:p>
        </p:txBody>
      </p:sp>
      <p:sp>
        <p:nvSpPr>
          <p:cNvPr id="7" name="Text 4"/>
          <p:cNvSpPr/>
          <p:nvPr/>
        </p:nvSpPr>
        <p:spPr>
          <a:xfrm>
            <a:off x="7502604" y="4115872"/>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No Need to Remember Passwords</a:t>
            </a:r>
            <a:endParaRPr lang="en-US" sz="1150" dirty="0"/>
          </a:p>
        </p:txBody>
      </p:sp>
      <p:sp>
        <p:nvSpPr>
          <p:cNvPr id="8" name="Text 5"/>
          <p:cNvSpPr/>
          <p:nvPr/>
        </p:nvSpPr>
        <p:spPr>
          <a:xfrm>
            <a:off x="7502604" y="4462224"/>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Low Power Consumption</a:t>
            </a:r>
            <a:endParaRPr lang="en-US" sz="1150" dirty="0"/>
          </a:p>
        </p:txBody>
      </p:sp>
      <p:sp>
        <p:nvSpPr>
          <p:cNvPr id="9" name="Text 6"/>
          <p:cNvSpPr/>
          <p:nvPr/>
        </p:nvSpPr>
        <p:spPr>
          <a:xfrm>
            <a:off x="7502604" y="4904423"/>
            <a:ext cx="2322076" cy="290155"/>
          </a:xfrm>
          <a:prstGeom prst="rect">
            <a:avLst/>
          </a:prstGeom>
          <a:noFill/>
          <a:ln/>
        </p:spPr>
        <p:txBody>
          <a:bodyPr wrap="none" lIns="0" tIns="0" rIns="0" bIns="0" rtlCol="0" anchor="t"/>
          <a:lstStyle/>
          <a:p>
            <a:pPr algn="l" indent="0" marL="0">
              <a:lnSpc>
                <a:spcPts val="2250"/>
              </a:lnSpc>
              <a:buNone/>
            </a:pPr>
            <a:r>
              <a:rPr lang="en-US" sz="1800" dirty="0">
                <a:solidFill>
                  <a:srgbClr val="020202"/>
                </a:solidFill>
                <a:latin typeface="PT Serif" pitchFamily="34" charset="0"/>
                <a:ea typeface="PT Serif" pitchFamily="34" charset="-122"/>
                <a:cs typeface="PT Serif" pitchFamily="34" charset="-120"/>
              </a:rPr>
              <a:t>Cons</a:t>
            </a:r>
            <a:endParaRPr lang="en-US" sz="1800" dirty="0"/>
          </a:p>
        </p:txBody>
      </p:sp>
      <p:sp>
        <p:nvSpPr>
          <p:cNvPr id="10" name="Text 7"/>
          <p:cNvSpPr/>
          <p:nvPr/>
        </p:nvSpPr>
        <p:spPr>
          <a:xfrm>
            <a:off x="7502604" y="5341977"/>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UID can be easily Cloned or Hacked</a:t>
            </a:r>
            <a:endParaRPr lang="en-US" sz="1150" dirty="0"/>
          </a:p>
        </p:txBody>
      </p:sp>
      <p:sp>
        <p:nvSpPr>
          <p:cNvPr id="11" name="Text 8"/>
          <p:cNvSpPr/>
          <p:nvPr/>
        </p:nvSpPr>
        <p:spPr>
          <a:xfrm>
            <a:off x="7502604" y="5688330"/>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No Additional Authentication</a:t>
            </a:r>
            <a:endParaRPr lang="en-US" sz="1150" dirty="0"/>
          </a:p>
        </p:txBody>
      </p:sp>
      <p:sp>
        <p:nvSpPr>
          <p:cNvPr id="12" name="Text 9"/>
          <p:cNvSpPr/>
          <p:nvPr/>
        </p:nvSpPr>
        <p:spPr>
          <a:xfrm>
            <a:off x="7502604" y="6034683"/>
            <a:ext cx="6341626" cy="294799"/>
          </a:xfrm>
          <a:prstGeom prst="rect">
            <a:avLst/>
          </a:prstGeom>
          <a:noFill/>
          <a:ln/>
        </p:spPr>
        <p:txBody>
          <a:bodyPr wrap="none" lIns="0" tIns="0" rIns="0" bIns="0" rtlCol="0" anchor="t"/>
          <a:lstStyle/>
          <a:p>
            <a:pPr algn="l" marL="342900" indent="-342900">
              <a:lnSpc>
                <a:spcPts val="1850"/>
              </a:lnSpc>
              <a:buSzPct val="100000"/>
              <a:buChar char="•"/>
            </a:pPr>
            <a:r>
              <a:rPr lang="en-US" sz="1150" dirty="0">
                <a:solidFill>
                  <a:srgbClr val="383838"/>
                </a:solidFill>
                <a:latin typeface="DM Sans" pitchFamily="34" charset="0"/>
                <a:ea typeface="DM Sans" pitchFamily="34" charset="-122"/>
                <a:cs typeface="DM Sans" pitchFamily="34" charset="-120"/>
              </a:rPr>
              <a:t>Lost Cards are a Security Risk</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956911"/>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Vulnerability</a:t>
            </a:r>
            <a:endParaRPr lang="en-US" sz="4650" dirty="0"/>
          </a:p>
        </p:txBody>
      </p:sp>
      <p:sp>
        <p:nvSpPr>
          <p:cNvPr id="4" name="Text 1"/>
          <p:cNvSpPr/>
          <p:nvPr/>
        </p:nvSpPr>
        <p:spPr>
          <a:xfrm>
            <a:off x="793790" y="3041333"/>
            <a:ext cx="7556421" cy="907018"/>
          </a:xfrm>
          <a:prstGeom prst="rect">
            <a:avLst/>
          </a:prstGeom>
          <a:noFill/>
          <a:ln/>
        </p:spPr>
        <p:txBody>
          <a:bodyPr wrap="square" lIns="0" tIns="0" rIns="0" bIns="0" rtlCol="0" anchor="t"/>
          <a:lstStyle/>
          <a:p>
            <a:pPr algn="l" indent="0" marL="0">
              <a:lnSpc>
                <a:spcPts val="3550"/>
              </a:lnSpc>
              <a:buNone/>
            </a:pPr>
            <a:r>
              <a:rPr lang="en-US" sz="2200" dirty="0">
                <a:solidFill>
                  <a:srgbClr val="383838"/>
                </a:solidFill>
                <a:latin typeface="DM Sans" pitchFamily="34" charset="0"/>
                <a:ea typeface="DM Sans" pitchFamily="34" charset="-122"/>
                <a:cs typeface="DM Sans" pitchFamily="34" charset="-120"/>
              </a:rPr>
              <a:t>In 2012 Black Hat Conference it was shown how hackers use a $50 to clone hotel keycards in seconds.</a:t>
            </a:r>
            <a:endParaRPr lang="en-US" sz="2200" dirty="0"/>
          </a:p>
        </p:txBody>
      </p:sp>
      <p:sp>
        <p:nvSpPr>
          <p:cNvPr id="5" name="Text 2"/>
          <p:cNvSpPr/>
          <p:nvPr/>
        </p:nvSpPr>
        <p:spPr>
          <a:xfrm>
            <a:off x="793790" y="4203502"/>
            <a:ext cx="7556421" cy="907018"/>
          </a:xfrm>
          <a:prstGeom prst="rect">
            <a:avLst/>
          </a:prstGeom>
          <a:noFill/>
          <a:ln/>
        </p:spPr>
        <p:txBody>
          <a:bodyPr wrap="square" lIns="0" tIns="0" rIns="0" bIns="0" rtlCol="0" anchor="t"/>
          <a:lstStyle/>
          <a:p>
            <a:pPr algn="l" indent="0" marL="0">
              <a:lnSpc>
                <a:spcPts val="3550"/>
              </a:lnSpc>
              <a:buNone/>
            </a:pPr>
            <a:r>
              <a:rPr lang="en-US" sz="2200" dirty="0">
                <a:solidFill>
                  <a:srgbClr val="383838"/>
                </a:solidFill>
                <a:latin typeface="DM Sans" pitchFamily="34" charset="0"/>
                <a:ea typeface="DM Sans" pitchFamily="34" charset="-122"/>
                <a:cs typeface="DM Sans" pitchFamily="34" charset="-120"/>
              </a:rPr>
              <a:t>In 2018 thieves used a relay attack to drive and unlock a Tesla Model S.</a:t>
            </a:r>
            <a:endParaRPr lang="en-US" sz="2200" dirty="0"/>
          </a:p>
        </p:txBody>
      </p:sp>
      <p:sp>
        <p:nvSpPr>
          <p:cNvPr id="6" name="Text 3"/>
          <p:cNvSpPr/>
          <p:nvPr/>
        </p:nvSpPr>
        <p:spPr>
          <a:xfrm>
            <a:off x="793790" y="5365671"/>
            <a:ext cx="7556421" cy="907018"/>
          </a:xfrm>
          <a:prstGeom prst="rect">
            <a:avLst/>
          </a:prstGeom>
          <a:noFill/>
          <a:ln/>
        </p:spPr>
        <p:txBody>
          <a:bodyPr wrap="square" lIns="0" tIns="0" rIns="0" bIns="0" rtlCol="0" anchor="t"/>
          <a:lstStyle/>
          <a:p>
            <a:pPr algn="l" indent="0" marL="0">
              <a:lnSpc>
                <a:spcPts val="3550"/>
              </a:lnSpc>
              <a:buNone/>
            </a:pPr>
            <a:r>
              <a:rPr lang="en-US" sz="2200" dirty="0">
                <a:solidFill>
                  <a:srgbClr val="383838"/>
                </a:solidFill>
                <a:latin typeface="DM Sans" pitchFamily="34" charset="0"/>
                <a:ea typeface="DM Sans" pitchFamily="34" charset="-122"/>
                <a:cs typeface="DM Sans" pitchFamily="34" charset="-120"/>
              </a:rPr>
              <a:t>In 2008 hackers used MIFARE Classic cards to use public transport for free.</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1543050" y="814388"/>
            <a:ext cx="6057900" cy="744260"/>
          </a:xfrm>
          <a:prstGeom prst="rect">
            <a:avLst/>
          </a:prstGeom>
          <a:noFill/>
          <a:ln/>
        </p:spPr>
        <p:txBody>
          <a:bodyPr wrap="none" lIns="0" tIns="0" rIns="0" bIns="0" rtlCol="0" anchor="t"/>
          <a:lstStyle/>
          <a:p>
            <a:pPr algn="ctr" indent="0" marL="0">
              <a:lnSpc>
                <a:spcPts val="5850"/>
              </a:lnSpc>
              <a:buNone/>
            </a:pPr>
            <a:r>
              <a:rPr lang="en-US" sz="4650" dirty="0">
                <a:solidFill>
                  <a:srgbClr val="020202"/>
                </a:solidFill>
                <a:latin typeface="PT Serif" pitchFamily="34" charset="0"/>
                <a:ea typeface="PT Serif" pitchFamily="34" charset="-122"/>
                <a:cs typeface="PT Serif" pitchFamily="34" charset="-120"/>
              </a:rPr>
              <a:t>Why RFID + Password?</a:t>
            </a:r>
            <a:endParaRPr lang="en-US" sz="4650" dirty="0"/>
          </a:p>
        </p:txBody>
      </p:sp>
      <p:sp>
        <p:nvSpPr>
          <p:cNvPr id="4" name="Shape 1"/>
          <p:cNvSpPr/>
          <p:nvPr/>
        </p:nvSpPr>
        <p:spPr>
          <a:xfrm>
            <a:off x="793790" y="1898809"/>
            <a:ext cx="3664863" cy="1687592"/>
          </a:xfrm>
          <a:prstGeom prst="roundRect">
            <a:avLst>
              <a:gd name="adj" fmla="val 2016"/>
            </a:avLst>
          </a:prstGeom>
          <a:solidFill>
            <a:srgbClr val="F2EEEE"/>
          </a:solidFill>
          <a:ln/>
        </p:spPr>
      </p:sp>
      <p:sp>
        <p:nvSpPr>
          <p:cNvPr id="5" name="Text 2"/>
          <p:cNvSpPr/>
          <p:nvPr/>
        </p:nvSpPr>
        <p:spPr>
          <a:xfrm>
            <a:off x="1020604" y="212562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Stronger Security</a:t>
            </a:r>
            <a:endParaRPr lang="en-US" sz="2300" dirty="0"/>
          </a:p>
        </p:txBody>
      </p:sp>
      <p:sp>
        <p:nvSpPr>
          <p:cNvPr id="6" name="Text 3"/>
          <p:cNvSpPr/>
          <p:nvPr/>
        </p:nvSpPr>
        <p:spPr>
          <a:xfrm>
            <a:off x="1020604" y="2633782"/>
            <a:ext cx="3211235"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Combines RFID and password authentication.</a:t>
            </a:r>
            <a:endParaRPr lang="en-US" sz="1750" dirty="0"/>
          </a:p>
        </p:txBody>
      </p:sp>
      <p:sp>
        <p:nvSpPr>
          <p:cNvPr id="7" name="Shape 4"/>
          <p:cNvSpPr/>
          <p:nvPr/>
        </p:nvSpPr>
        <p:spPr>
          <a:xfrm>
            <a:off x="4685467" y="1898809"/>
            <a:ext cx="3664863" cy="1687592"/>
          </a:xfrm>
          <a:prstGeom prst="roundRect">
            <a:avLst>
              <a:gd name="adj" fmla="val 2016"/>
            </a:avLst>
          </a:prstGeom>
          <a:solidFill>
            <a:srgbClr val="F2EEEE"/>
          </a:solidFill>
          <a:ln/>
        </p:spPr>
      </p:sp>
      <p:sp>
        <p:nvSpPr>
          <p:cNvPr id="8" name="Text 5"/>
          <p:cNvSpPr/>
          <p:nvPr/>
        </p:nvSpPr>
        <p:spPr>
          <a:xfrm>
            <a:off x="4912281" y="212562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UID Cloning</a:t>
            </a:r>
            <a:endParaRPr lang="en-US" sz="2300" dirty="0"/>
          </a:p>
        </p:txBody>
      </p:sp>
      <p:sp>
        <p:nvSpPr>
          <p:cNvPr id="9" name="Text 6"/>
          <p:cNvSpPr/>
          <p:nvPr/>
        </p:nvSpPr>
        <p:spPr>
          <a:xfrm>
            <a:off x="4912281" y="2633782"/>
            <a:ext cx="3211235"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Cloned UID can't access stored password.</a:t>
            </a:r>
            <a:endParaRPr lang="en-US" sz="1750" dirty="0"/>
          </a:p>
        </p:txBody>
      </p:sp>
      <p:sp>
        <p:nvSpPr>
          <p:cNvPr id="10" name="Shape 7"/>
          <p:cNvSpPr/>
          <p:nvPr/>
        </p:nvSpPr>
        <p:spPr>
          <a:xfrm>
            <a:off x="793790" y="3813215"/>
            <a:ext cx="3664863" cy="1687592"/>
          </a:xfrm>
          <a:prstGeom prst="roundRect">
            <a:avLst>
              <a:gd name="adj" fmla="val 2016"/>
            </a:avLst>
          </a:prstGeom>
          <a:solidFill>
            <a:srgbClr val="F2EEEE"/>
          </a:solidFill>
          <a:ln/>
        </p:spPr>
      </p:sp>
      <p:sp>
        <p:nvSpPr>
          <p:cNvPr id="11" name="Text 8"/>
          <p:cNvSpPr/>
          <p:nvPr/>
        </p:nvSpPr>
        <p:spPr>
          <a:xfrm>
            <a:off x="1020604" y="4040029"/>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Secure Storage</a:t>
            </a:r>
            <a:endParaRPr lang="en-US" sz="2300" dirty="0"/>
          </a:p>
        </p:txBody>
      </p:sp>
      <p:sp>
        <p:nvSpPr>
          <p:cNvPr id="12" name="Text 9"/>
          <p:cNvSpPr/>
          <p:nvPr/>
        </p:nvSpPr>
        <p:spPr>
          <a:xfrm>
            <a:off x="1020604" y="4548187"/>
            <a:ext cx="3211235"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Uses MIFARE Classic Block 16 with Authentication.</a:t>
            </a:r>
            <a:endParaRPr lang="en-US" sz="1750" dirty="0"/>
          </a:p>
        </p:txBody>
      </p:sp>
      <p:sp>
        <p:nvSpPr>
          <p:cNvPr id="13" name="Shape 10"/>
          <p:cNvSpPr/>
          <p:nvPr/>
        </p:nvSpPr>
        <p:spPr>
          <a:xfrm>
            <a:off x="4685467" y="3813215"/>
            <a:ext cx="3664863" cy="1687592"/>
          </a:xfrm>
          <a:prstGeom prst="roundRect">
            <a:avLst>
              <a:gd name="adj" fmla="val 2016"/>
            </a:avLst>
          </a:prstGeom>
          <a:solidFill>
            <a:srgbClr val="F2EEEE"/>
          </a:solidFill>
          <a:ln/>
        </p:spPr>
      </p:sp>
      <p:sp>
        <p:nvSpPr>
          <p:cNvPr id="14" name="Text 11"/>
          <p:cNvSpPr/>
          <p:nvPr/>
        </p:nvSpPr>
        <p:spPr>
          <a:xfrm>
            <a:off x="4912281" y="4040029"/>
            <a:ext cx="3158371"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Contactless/Convenient</a:t>
            </a:r>
            <a:endParaRPr lang="en-US" sz="2300" dirty="0"/>
          </a:p>
        </p:txBody>
      </p:sp>
      <p:sp>
        <p:nvSpPr>
          <p:cNvPr id="15" name="Text 12"/>
          <p:cNvSpPr/>
          <p:nvPr/>
        </p:nvSpPr>
        <p:spPr>
          <a:xfrm>
            <a:off x="4912281" y="4548187"/>
            <a:ext cx="3211235"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No need to insert keys or remember Pins. </a:t>
            </a:r>
            <a:endParaRPr lang="en-US" sz="1750" dirty="0"/>
          </a:p>
        </p:txBody>
      </p:sp>
      <p:sp>
        <p:nvSpPr>
          <p:cNvPr id="16" name="Shape 13"/>
          <p:cNvSpPr/>
          <p:nvPr/>
        </p:nvSpPr>
        <p:spPr>
          <a:xfrm>
            <a:off x="793790" y="5727621"/>
            <a:ext cx="3664863" cy="1687592"/>
          </a:xfrm>
          <a:prstGeom prst="roundRect">
            <a:avLst>
              <a:gd name="adj" fmla="val 2016"/>
            </a:avLst>
          </a:prstGeom>
          <a:solidFill>
            <a:srgbClr val="F2EEEE"/>
          </a:solidFill>
          <a:ln/>
        </p:spPr>
      </p:sp>
      <p:sp>
        <p:nvSpPr>
          <p:cNvPr id="17" name="Text 14"/>
          <p:cNvSpPr/>
          <p:nvPr/>
        </p:nvSpPr>
        <p:spPr>
          <a:xfrm>
            <a:off x="1020604" y="5954435"/>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Faster access control</a:t>
            </a:r>
            <a:endParaRPr lang="en-US" sz="2300" dirty="0"/>
          </a:p>
        </p:txBody>
      </p:sp>
      <p:sp>
        <p:nvSpPr>
          <p:cNvPr id="18" name="Text 15"/>
          <p:cNvSpPr/>
          <p:nvPr/>
        </p:nvSpPr>
        <p:spPr>
          <a:xfrm>
            <a:off x="1020604" y="6462593"/>
            <a:ext cx="3211235"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The authentication only takes a fraction of a second</a:t>
            </a:r>
            <a:endParaRPr lang="en-US" sz="1750" dirty="0"/>
          </a:p>
        </p:txBody>
      </p:sp>
      <p:sp>
        <p:nvSpPr>
          <p:cNvPr id="19" name="Shape 16"/>
          <p:cNvSpPr/>
          <p:nvPr/>
        </p:nvSpPr>
        <p:spPr>
          <a:xfrm>
            <a:off x="4685467" y="5727621"/>
            <a:ext cx="3664863" cy="1687592"/>
          </a:xfrm>
          <a:prstGeom prst="roundRect">
            <a:avLst>
              <a:gd name="adj" fmla="val 2016"/>
            </a:avLst>
          </a:prstGeom>
          <a:solidFill>
            <a:srgbClr val="F2EEEE"/>
          </a:solidFill>
          <a:ln/>
        </p:spPr>
      </p:sp>
      <p:sp>
        <p:nvSpPr>
          <p:cNvPr id="20" name="Text 17"/>
          <p:cNvSpPr/>
          <p:nvPr/>
        </p:nvSpPr>
        <p:spPr>
          <a:xfrm>
            <a:off x="4912281" y="5954435"/>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Difficult to Breach</a:t>
            </a:r>
            <a:endParaRPr lang="en-US" sz="2300" dirty="0"/>
          </a:p>
        </p:txBody>
      </p:sp>
      <p:sp>
        <p:nvSpPr>
          <p:cNvPr id="21" name="Text 18"/>
          <p:cNvSpPr/>
          <p:nvPr/>
        </p:nvSpPr>
        <p:spPr>
          <a:xfrm>
            <a:off x="4912281" y="6462593"/>
            <a:ext cx="3211235"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Resistant to picking and physical tampering</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7081242" y="1386007"/>
            <a:ext cx="5954197" cy="744260"/>
          </a:xfrm>
          <a:prstGeom prst="rect">
            <a:avLst/>
          </a:prstGeom>
          <a:noFill/>
          <a:ln/>
        </p:spPr>
        <p:txBody>
          <a:bodyPr wrap="none" lIns="0" tIns="0" rIns="0" bIns="0" rtlCol="0" anchor="t"/>
          <a:lstStyle/>
          <a:p>
            <a:pPr algn="ctr" indent="0" marL="0">
              <a:lnSpc>
                <a:spcPts val="5850"/>
              </a:lnSpc>
              <a:buNone/>
            </a:pPr>
            <a:r>
              <a:rPr lang="en-US" sz="4650" dirty="0">
                <a:solidFill>
                  <a:srgbClr val="020202"/>
                </a:solidFill>
                <a:latin typeface="PT Serif" pitchFamily="34" charset="0"/>
                <a:ea typeface="PT Serif" pitchFamily="34" charset="-122"/>
                <a:cs typeface="PT Serif" pitchFamily="34" charset="-120"/>
              </a:rPr>
              <a:t>Components Used</a:t>
            </a:r>
            <a:endParaRPr lang="en-US" sz="4650" dirty="0"/>
          </a:p>
        </p:txBody>
      </p:sp>
      <p:pic>
        <p:nvPicPr>
          <p:cNvPr id="4" name="Image 1" descr="preencoded.png">    </p:cNvPr>
          <p:cNvPicPr>
            <a:picLocks noChangeAspect="1"/>
          </p:cNvPicPr>
          <p:nvPr/>
        </p:nvPicPr>
        <p:blipFill>
          <a:blip r:embed="rId2"/>
          <a:stretch>
            <a:fillRect/>
          </a:stretch>
        </p:blipFill>
        <p:spPr>
          <a:xfrm>
            <a:off x="6280190" y="2470428"/>
            <a:ext cx="566976" cy="566976"/>
          </a:xfrm>
          <a:prstGeom prst="rect">
            <a:avLst/>
          </a:prstGeom>
        </p:spPr>
      </p:pic>
      <p:sp>
        <p:nvSpPr>
          <p:cNvPr id="5" name="Text 1"/>
          <p:cNvSpPr/>
          <p:nvPr/>
        </p:nvSpPr>
        <p:spPr>
          <a:xfrm>
            <a:off x="6280190" y="3264218"/>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Arduino Uno R3</a:t>
            </a:r>
            <a:endParaRPr lang="en-US" sz="2300" dirty="0"/>
          </a:p>
        </p:txBody>
      </p:sp>
      <p:sp>
        <p:nvSpPr>
          <p:cNvPr id="6" name="Text 2"/>
          <p:cNvSpPr/>
          <p:nvPr/>
        </p:nvSpPr>
        <p:spPr>
          <a:xfrm>
            <a:off x="6280190" y="3772376"/>
            <a:ext cx="3608070"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Main microcontroller.</a:t>
            </a:r>
            <a:endParaRPr lang="en-US" sz="1750" dirty="0"/>
          </a:p>
        </p:txBody>
      </p:sp>
      <p:pic>
        <p:nvPicPr>
          <p:cNvPr id="7" name="Image 2" descr="preencoded.png">    </p:cNvPr>
          <p:cNvPicPr>
            <a:picLocks noChangeAspect="1"/>
          </p:cNvPicPr>
          <p:nvPr/>
        </p:nvPicPr>
        <p:blipFill>
          <a:blip r:embed="rId3"/>
          <a:stretch>
            <a:fillRect/>
          </a:stretch>
        </p:blipFill>
        <p:spPr>
          <a:xfrm>
            <a:off x="10228421" y="2470428"/>
            <a:ext cx="566976" cy="566976"/>
          </a:xfrm>
          <a:prstGeom prst="rect">
            <a:avLst/>
          </a:prstGeom>
        </p:spPr>
      </p:pic>
      <p:sp>
        <p:nvSpPr>
          <p:cNvPr id="8" name="Text 3"/>
          <p:cNvSpPr/>
          <p:nvPr/>
        </p:nvSpPr>
        <p:spPr>
          <a:xfrm>
            <a:off x="10228421" y="3264218"/>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RFID RC522 Module</a:t>
            </a:r>
            <a:endParaRPr lang="en-US" sz="2300" dirty="0"/>
          </a:p>
        </p:txBody>
      </p:sp>
      <p:sp>
        <p:nvSpPr>
          <p:cNvPr id="9" name="Text 4"/>
          <p:cNvSpPr/>
          <p:nvPr/>
        </p:nvSpPr>
        <p:spPr>
          <a:xfrm>
            <a:off x="10228421" y="3772376"/>
            <a:ext cx="36081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Reads UID &amp; password.</a:t>
            </a:r>
            <a:endParaRPr lang="en-US" sz="1750" dirty="0"/>
          </a:p>
        </p:txBody>
      </p:sp>
      <p:pic>
        <p:nvPicPr>
          <p:cNvPr id="10" name="Image 3" descr="preencoded.png">    </p:cNvPr>
          <p:cNvPicPr>
            <a:picLocks noChangeAspect="1"/>
          </p:cNvPicPr>
          <p:nvPr/>
        </p:nvPicPr>
        <p:blipFill>
          <a:blip r:embed="rId4"/>
          <a:stretch>
            <a:fillRect/>
          </a:stretch>
        </p:blipFill>
        <p:spPr>
          <a:xfrm>
            <a:off x="6280190" y="4815721"/>
            <a:ext cx="566976" cy="566976"/>
          </a:xfrm>
          <a:prstGeom prst="rect">
            <a:avLst/>
          </a:prstGeom>
        </p:spPr>
      </p:pic>
      <p:sp>
        <p:nvSpPr>
          <p:cNvPr id="11" name="Text 5"/>
          <p:cNvSpPr/>
          <p:nvPr/>
        </p:nvSpPr>
        <p:spPr>
          <a:xfrm>
            <a:off x="6280190" y="5609511"/>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16x2 LCD</a:t>
            </a:r>
            <a:endParaRPr lang="en-US" sz="2300" dirty="0"/>
          </a:p>
        </p:txBody>
      </p:sp>
      <p:sp>
        <p:nvSpPr>
          <p:cNvPr id="12" name="Text 6"/>
          <p:cNvSpPr/>
          <p:nvPr/>
        </p:nvSpPr>
        <p:spPr>
          <a:xfrm>
            <a:off x="6280190" y="6117669"/>
            <a:ext cx="3608070"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Displays messages.</a:t>
            </a:r>
            <a:endParaRPr lang="en-US" sz="1750" dirty="0"/>
          </a:p>
        </p:txBody>
      </p:sp>
      <p:pic>
        <p:nvPicPr>
          <p:cNvPr id="13" name="Image 4" descr="preencoded.png">    </p:cNvPr>
          <p:cNvPicPr>
            <a:picLocks noChangeAspect="1"/>
          </p:cNvPicPr>
          <p:nvPr/>
        </p:nvPicPr>
        <p:blipFill>
          <a:blip r:embed="rId5"/>
          <a:stretch>
            <a:fillRect/>
          </a:stretch>
        </p:blipFill>
        <p:spPr>
          <a:xfrm>
            <a:off x="10228421" y="4815721"/>
            <a:ext cx="566976" cy="566976"/>
          </a:xfrm>
          <a:prstGeom prst="rect">
            <a:avLst/>
          </a:prstGeom>
        </p:spPr>
      </p:pic>
      <p:sp>
        <p:nvSpPr>
          <p:cNvPr id="14" name="Text 7"/>
          <p:cNvSpPr/>
          <p:nvPr/>
        </p:nvSpPr>
        <p:spPr>
          <a:xfrm>
            <a:off x="10228421" y="5609511"/>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Servo Motor</a:t>
            </a:r>
            <a:endParaRPr lang="en-US" sz="2300" dirty="0"/>
          </a:p>
        </p:txBody>
      </p:sp>
      <p:sp>
        <p:nvSpPr>
          <p:cNvPr id="15" name="Text 8"/>
          <p:cNvSpPr/>
          <p:nvPr/>
        </p:nvSpPr>
        <p:spPr>
          <a:xfrm>
            <a:off x="10228421" y="6117669"/>
            <a:ext cx="3608189"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Helps to lock and unlock the system</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0"/>
            <a:ext cx="7315200" cy="8229600"/>
          </a:xfrm>
          <a:prstGeom prst="rect">
            <a:avLst/>
          </a:prstGeom>
        </p:spPr>
      </p:pic>
      <p:pic>
        <p:nvPicPr>
          <p:cNvPr id="3" name="Image 1" descr="preencoded.png">    </p:cNvPr>
          <p:cNvPicPr>
            <a:picLocks noChangeAspect="1"/>
          </p:cNvPicPr>
          <p:nvPr/>
        </p:nvPicPr>
        <p:blipFill>
          <a:blip r:embed="rId2"/>
          <a:stretch>
            <a:fillRect/>
          </a:stretch>
        </p:blipFill>
        <p:spPr>
          <a:xfrm>
            <a:off x="7598688" y="1314331"/>
            <a:ext cx="6748105" cy="5600938"/>
          </a:xfrm>
          <a:prstGeom prst="rect">
            <a:avLst/>
          </a:prstGeom>
        </p:spPr>
      </p:pic>
      <p:sp>
        <p:nvSpPr>
          <p:cNvPr id="4" name="Text 0"/>
          <p:cNvSpPr/>
          <p:nvPr/>
        </p:nvSpPr>
        <p:spPr>
          <a:xfrm>
            <a:off x="793790" y="1149906"/>
            <a:ext cx="5727621" cy="1488519"/>
          </a:xfrm>
          <a:prstGeom prst="rect">
            <a:avLst/>
          </a:prstGeom>
          <a:noFill/>
          <a:ln/>
        </p:spPr>
        <p:txBody>
          <a:bodyPr wrap="squar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Circuit Diagram &amp; Wiring</a:t>
            </a:r>
            <a:endParaRPr lang="en-US" sz="4650" dirty="0"/>
          </a:p>
        </p:txBody>
      </p:sp>
      <p:sp>
        <p:nvSpPr>
          <p:cNvPr id="5" name="Shape 1"/>
          <p:cNvSpPr/>
          <p:nvPr/>
        </p:nvSpPr>
        <p:spPr>
          <a:xfrm>
            <a:off x="3642360" y="2978587"/>
            <a:ext cx="30480" cy="4101108"/>
          </a:xfrm>
          <a:prstGeom prst="roundRect">
            <a:avLst>
              <a:gd name="adj" fmla="val 111628"/>
            </a:avLst>
          </a:prstGeom>
          <a:solidFill>
            <a:srgbClr val="D8D4D4"/>
          </a:solidFill>
          <a:ln/>
        </p:spPr>
      </p:sp>
      <p:sp>
        <p:nvSpPr>
          <p:cNvPr id="6" name="Shape 2"/>
          <p:cNvSpPr/>
          <p:nvPr/>
        </p:nvSpPr>
        <p:spPr>
          <a:xfrm>
            <a:off x="2752487" y="3473648"/>
            <a:ext cx="680442" cy="30480"/>
          </a:xfrm>
          <a:prstGeom prst="roundRect">
            <a:avLst>
              <a:gd name="adj" fmla="val 111628"/>
            </a:avLst>
          </a:prstGeom>
          <a:solidFill>
            <a:srgbClr val="D8D4D4"/>
          </a:solidFill>
          <a:ln/>
        </p:spPr>
      </p:sp>
      <p:sp>
        <p:nvSpPr>
          <p:cNvPr id="7" name="Shape 3"/>
          <p:cNvSpPr/>
          <p:nvPr/>
        </p:nvSpPr>
        <p:spPr>
          <a:xfrm>
            <a:off x="3402449" y="3233738"/>
            <a:ext cx="510302" cy="510302"/>
          </a:xfrm>
          <a:prstGeom prst="roundRect">
            <a:avLst>
              <a:gd name="adj" fmla="val 6667"/>
            </a:avLst>
          </a:prstGeom>
          <a:solidFill>
            <a:srgbClr val="F2EEEE"/>
          </a:solidFill>
          <a:ln/>
        </p:spPr>
      </p:sp>
      <p:sp>
        <p:nvSpPr>
          <p:cNvPr id="8" name="Text 4"/>
          <p:cNvSpPr/>
          <p:nvPr/>
        </p:nvSpPr>
        <p:spPr>
          <a:xfrm>
            <a:off x="3479006" y="3265646"/>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1</a:t>
            </a:r>
            <a:endParaRPr lang="en-US" sz="2800" dirty="0"/>
          </a:p>
        </p:txBody>
      </p:sp>
      <p:sp>
        <p:nvSpPr>
          <p:cNvPr id="9" name="Text 5"/>
          <p:cNvSpPr/>
          <p:nvPr/>
        </p:nvSpPr>
        <p:spPr>
          <a:xfrm>
            <a:off x="793790" y="3205401"/>
            <a:ext cx="1729740" cy="744141"/>
          </a:xfrm>
          <a:prstGeom prst="rect">
            <a:avLst/>
          </a:prstGeom>
          <a:noFill/>
          <a:ln/>
        </p:spPr>
        <p:txBody>
          <a:bodyPr wrap="square" lIns="0" tIns="0" rIns="0" bIns="0" rtlCol="0" anchor="t"/>
          <a:lstStyle/>
          <a:p>
            <a:pPr algn="r" indent="0" marL="0">
              <a:lnSpc>
                <a:spcPts val="2900"/>
              </a:lnSpc>
              <a:buNone/>
            </a:pPr>
            <a:r>
              <a:rPr lang="en-US" sz="2300" dirty="0">
                <a:solidFill>
                  <a:srgbClr val="383838"/>
                </a:solidFill>
                <a:latin typeface="PT Serif" pitchFamily="34" charset="0"/>
                <a:ea typeface="PT Serif" pitchFamily="34" charset="-122"/>
                <a:cs typeface="PT Serif" pitchFamily="34" charset="-120"/>
              </a:rPr>
              <a:t>RFID Module</a:t>
            </a:r>
            <a:endParaRPr lang="en-US" sz="2300" dirty="0"/>
          </a:p>
        </p:txBody>
      </p:sp>
      <p:sp>
        <p:nvSpPr>
          <p:cNvPr id="10" name="Text 6"/>
          <p:cNvSpPr/>
          <p:nvPr/>
        </p:nvSpPr>
        <p:spPr>
          <a:xfrm>
            <a:off x="793790" y="4085630"/>
            <a:ext cx="1729740" cy="725805"/>
          </a:xfrm>
          <a:prstGeom prst="rect">
            <a:avLst/>
          </a:prstGeom>
          <a:noFill/>
          <a:ln/>
        </p:spPr>
        <p:txBody>
          <a:bodyPr wrap="square" lIns="0" tIns="0" rIns="0" bIns="0" rtlCol="0" anchor="t"/>
          <a:lstStyle/>
          <a:p>
            <a:pPr algn="r" indent="0" marL="0">
              <a:lnSpc>
                <a:spcPts val="2850"/>
              </a:lnSpc>
              <a:buNone/>
            </a:pPr>
            <a:r>
              <a:rPr lang="en-US" sz="1750" dirty="0">
                <a:solidFill>
                  <a:srgbClr val="383838"/>
                </a:solidFill>
                <a:latin typeface="DM Sans" pitchFamily="34" charset="0"/>
                <a:ea typeface="DM Sans" pitchFamily="34" charset="-122"/>
                <a:cs typeface="DM Sans" pitchFamily="34" charset="-120"/>
              </a:rPr>
              <a:t>Connect to Arduino.</a:t>
            </a:r>
            <a:endParaRPr lang="en-US" sz="1750" dirty="0"/>
          </a:p>
        </p:txBody>
      </p:sp>
      <p:sp>
        <p:nvSpPr>
          <p:cNvPr id="11" name="Shape 7"/>
          <p:cNvSpPr/>
          <p:nvPr/>
        </p:nvSpPr>
        <p:spPr>
          <a:xfrm>
            <a:off x="3882271" y="4607719"/>
            <a:ext cx="680442" cy="30480"/>
          </a:xfrm>
          <a:prstGeom prst="roundRect">
            <a:avLst>
              <a:gd name="adj" fmla="val 111628"/>
            </a:avLst>
          </a:prstGeom>
          <a:solidFill>
            <a:srgbClr val="D8D4D4"/>
          </a:solidFill>
          <a:ln/>
        </p:spPr>
      </p:sp>
      <p:sp>
        <p:nvSpPr>
          <p:cNvPr id="12" name="Shape 8"/>
          <p:cNvSpPr/>
          <p:nvPr/>
        </p:nvSpPr>
        <p:spPr>
          <a:xfrm>
            <a:off x="3402449" y="4367808"/>
            <a:ext cx="510302" cy="510302"/>
          </a:xfrm>
          <a:prstGeom prst="roundRect">
            <a:avLst>
              <a:gd name="adj" fmla="val 6667"/>
            </a:avLst>
          </a:prstGeom>
          <a:solidFill>
            <a:srgbClr val="F2EEEE"/>
          </a:solidFill>
          <a:ln/>
        </p:spPr>
      </p:sp>
      <p:sp>
        <p:nvSpPr>
          <p:cNvPr id="13" name="Text 9"/>
          <p:cNvSpPr/>
          <p:nvPr/>
        </p:nvSpPr>
        <p:spPr>
          <a:xfrm>
            <a:off x="3479006" y="4399717"/>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2</a:t>
            </a:r>
            <a:endParaRPr lang="en-US" sz="2800" dirty="0"/>
          </a:p>
        </p:txBody>
      </p:sp>
      <p:sp>
        <p:nvSpPr>
          <p:cNvPr id="14" name="Text 10"/>
          <p:cNvSpPr/>
          <p:nvPr/>
        </p:nvSpPr>
        <p:spPr>
          <a:xfrm>
            <a:off x="4791670" y="4339471"/>
            <a:ext cx="1729740"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LCD I2C</a:t>
            </a:r>
            <a:endParaRPr lang="en-US" sz="2300" dirty="0"/>
          </a:p>
        </p:txBody>
      </p:sp>
      <p:sp>
        <p:nvSpPr>
          <p:cNvPr id="15" name="Text 11"/>
          <p:cNvSpPr/>
          <p:nvPr/>
        </p:nvSpPr>
        <p:spPr>
          <a:xfrm>
            <a:off x="4791670" y="4847630"/>
            <a:ext cx="1729740"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Connect to Arduino.</a:t>
            </a:r>
            <a:endParaRPr lang="en-US" sz="1750" dirty="0"/>
          </a:p>
        </p:txBody>
      </p:sp>
      <p:sp>
        <p:nvSpPr>
          <p:cNvPr id="16" name="Shape 12"/>
          <p:cNvSpPr/>
          <p:nvPr/>
        </p:nvSpPr>
        <p:spPr>
          <a:xfrm>
            <a:off x="2752487" y="5760125"/>
            <a:ext cx="680442" cy="30480"/>
          </a:xfrm>
          <a:prstGeom prst="roundRect">
            <a:avLst>
              <a:gd name="adj" fmla="val 111628"/>
            </a:avLst>
          </a:prstGeom>
          <a:solidFill>
            <a:srgbClr val="D8D4D4"/>
          </a:solidFill>
          <a:ln/>
        </p:spPr>
      </p:sp>
      <p:sp>
        <p:nvSpPr>
          <p:cNvPr id="17" name="Shape 13"/>
          <p:cNvSpPr/>
          <p:nvPr/>
        </p:nvSpPr>
        <p:spPr>
          <a:xfrm>
            <a:off x="3402449" y="5520214"/>
            <a:ext cx="510302" cy="510302"/>
          </a:xfrm>
          <a:prstGeom prst="roundRect">
            <a:avLst>
              <a:gd name="adj" fmla="val 6667"/>
            </a:avLst>
          </a:prstGeom>
          <a:solidFill>
            <a:srgbClr val="F2EEEE"/>
          </a:solidFill>
          <a:ln/>
        </p:spPr>
      </p:sp>
      <p:sp>
        <p:nvSpPr>
          <p:cNvPr id="18" name="Text 14"/>
          <p:cNvSpPr/>
          <p:nvPr/>
        </p:nvSpPr>
        <p:spPr>
          <a:xfrm>
            <a:off x="3479006" y="5552123"/>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3</a:t>
            </a:r>
            <a:endParaRPr lang="en-US" sz="2800" dirty="0"/>
          </a:p>
        </p:txBody>
      </p:sp>
      <p:sp>
        <p:nvSpPr>
          <p:cNvPr id="19" name="Text 15"/>
          <p:cNvSpPr/>
          <p:nvPr/>
        </p:nvSpPr>
        <p:spPr>
          <a:xfrm>
            <a:off x="793790" y="5491877"/>
            <a:ext cx="1729740" cy="372070"/>
          </a:xfrm>
          <a:prstGeom prst="rect">
            <a:avLst/>
          </a:prstGeom>
          <a:noFill/>
          <a:ln/>
        </p:spPr>
        <p:txBody>
          <a:bodyPr wrap="none" lIns="0" tIns="0" rIns="0" bIns="0" rtlCol="0" anchor="t"/>
          <a:lstStyle/>
          <a:p>
            <a:pPr algn="r" indent="0" marL="0">
              <a:lnSpc>
                <a:spcPts val="2900"/>
              </a:lnSpc>
              <a:buNone/>
            </a:pPr>
            <a:r>
              <a:rPr lang="en-US" sz="2300" dirty="0">
                <a:solidFill>
                  <a:srgbClr val="383838"/>
                </a:solidFill>
                <a:latin typeface="PT Serif" pitchFamily="34" charset="0"/>
                <a:ea typeface="PT Serif" pitchFamily="34" charset="-122"/>
                <a:cs typeface="PT Serif" pitchFamily="34" charset="-120"/>
              </a:rPr>
              <a:t>Servo Motor</a:t>
            </a:r>
            <a:endParaRPr lang="en-US" sz="2300" dirty="0"/>
          </a:p>
        </p:txBody>
      </p:sp>
      <p:sp>
        <p:nvSpPr>
          <p:cNvPr id="20" name="Text 16"/>
          <p:cNvSpPr/>
          <p:nvPr/>
        </p:nvSpPr>
        <p:spPr>
          <a:xfrm>
            <a:off x="793790" y="6000036"/>
            <a:ext cx="1729740" cy="725805"/>
          </a:xfrm>
          <a:prstGeom prst="rect">
            <a:avLst/>
          </a:prstGeom>
          <a:noFill/>
          <a:ln/>
        </p:spPr>
        <p:txBody>
          <a:bodyPr wrap="square" lIns="0" tIns="0" rIns="0" bIns="0" rtlCol="0" anchor="t"/>
          <a:lstStyle/>
          <a:p>
            <a:pPr algn="r" indent="0" marL="0">
              <a:lnSpc>
                <a:spcPts val="2850"/>
              </a:lnSpc>
              <a:buNone/>
            </a:pPr>
            <a:r>
              <a:rPr lang="en-US" sz="1750" dirty="0">
                <a:solidFill>
                  <a:srgbClr val="383838"/>
                </a:solidFill>
                <a:latin typeface="DM Sans" pitchFamily="34" charset="0"/>
                <a:ea typeface="DM Sans" pitchFamily="34" charset="-122"/>
                <a:cs typeface="DM Sans" pitchFamily="34" charset="-120"/>
              </a:rPr>
              <a:t>Connect to Arduino.</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50821"/>
            <a:ext cx="61852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How Our System Works</a:t>
            </a:r>
            <a:endParaRPr lang="en-US" sz="4650" dirty="0"/>
          </a:p>
        </p:txBody>
      </p:sp>
      <p:pic>
        <p:nvPicPr>
          <p:cNvPr id="4" name="Image 1" descr="preencoded.png">    </p:cNvPr>
          <p:cNvPicPr>
            <a:picLocks noChangeAspect="1"/>
          </p:cNvPicPr>
          <p:nvPr/>
        </p:nvPicPr>
        <p:blipFill>
          <a:blip r:embed="rId2"/>
          <a:stretch>
            <a:fillRect/>
          </a:stretch>
        </p:blipFill>
        <p:spPr>
          <a:xfrm>
            <a:off x="793790" y="1935242"/>
            <a:ext cx="1134070" cy="1360884"/>
          </a:xfrm>
          <a:prstGeom prst="rect">
            <a:avLst/>
          </a:prstGeom>
        </p:spPr>
      </p:pic>
      <p:sp>
        <p:nvSpPr>
          <p:cNvPr id="5" name="Text 1"/>
          <p:cNvSpPr/>
          <p:nvPr/>
        </p:nvSpPr>
        <p:spPr>
          <a:xfrm>
            <a:off x="2268022" y="2162056"/>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Scan RFID</a:t>
            </a:r>
            <a:endParaRPr lang="en-US" sz="2300" dirty="0"/>
          </a:p>
        </p:txBody>
      </p:sp>
      <p:sp>
        <p:nvSpPr>
          <p:cNvPr id="6" name="Text 2"/>
          <p:cNvSpPr/>
          <p:nvPr/>
        </p:nvSpPr>
        <p:spPr>
          <a:xfrm>
            <a:off x="2268022" y="2670215"/>
            <a:ext cx="60821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Scan the RFID card.</a:t>
            </a:r>
            <a:endParaRPr lang="en-US" sz="1750" dirty="0"/>
          </a:p>
        </p:txBody>
      </p:sp>
      <p:pic>
        <p:nvPicPr>
          <p:cNvPr id="7" name="Image 2" descr="preencoded.png">    </p:cNvPr>
          <p:cNvPicPr>
            <a:picLocks noChangeAspect="1"/>
          </p:cNvPicPr>
          <p:nvPr/>
        </p:nvPicPr>
        <p:blipFill>
          <a:blip r:embed="rId3"/>
          <a:stretch>
            <a:fillRect/>
          </a:stretch>
        </p:blipFill>
        <p:spPr>
          <a:xfrm>
            <a:off x="793790" y="3296126"/>
            <a:ext cx="1134070" cy="1360884"/>
          </a:xfrm>
          <a:prstGeom prst="rect">
            <a:avLst/>
          </a:prstGeom>
        </p:spPr>
      </p:pic>
      <p:sp>
        <p:nvSpPr>
          <p:cNvPr id="8" name="Text 3"/>
          <p:cNvSpPr/>
          <p:nvPr/>
        </p:nvSpPr>
        <p:spPr>
          <a:xfrm>
            <a:off x="2268022" y="3522940"/>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Compare UID</a:t>
            </a:r>
            <a:endParaRPr lang="en-US" sz="2300" dirty="0"/>
          </a:p>
        </p:txBody>
      </p:sp>
      <p:sp>
        <p:nvSpPr>
          <p:cNvPr id="9" name="Text 4"/>
          <p:cNvSpPr/>
          <p:nvPr/>
        </p:nvSpPr>
        <p:spPr>
          <a:xfrm>
            <a:off x="2268022" y="4031099"/>
            <a:ext cx="60821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Compare UID with authorized UID.</a:t>
            </a:r>
            <a:endParaRPr lang="en-US" sz="1750" dirty="0"/>
          </a:p>
        </p:txBody>
      </p:sp>
      <p:pic>
        <p:nvPicPr>
          <p:cNvPr id="10" name="Image 3" descr="preencoded.png">    </p:cNvPr>
          <p:cNvPicPr>
            <a:picLocks noChangeAspect="1"/>
          </p:cNvPicPr>
          <p:nvPr/>
        </p:nvPicPr>
        <p:blipFill>
          <a:blip r:embed="rId4"/>
          <a:stretch>
            <a:fillRect/>
          </a:stretch>
        </p:blipFill>
        <p:spPr>
          <a:xfrm>
            <a:off x="793790" y="4657011"/>
            <a:ext cx="1134070" cy="1360884"/>
          </a:xfrm>
          <a:prstGeom prst="rect">
            <a:avLst/>
          </a:prstGeom>
        </p:spPr>
      </p:pic>
      <p:sp>
        <p:nvSpPr>
          <p:cNvPr id="11" name="Text 5"/>
          <p:cNvSpPr/>
          <p:nvPr/>
        </p:nvSpPr>
        <p:spPr>
          <a:xfrm>
            <a:off x="2268022" y="4883825"/>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Read Password</a:t>
            </a:r>
            <a:endParaRPr lang="en-US" sz="2300" dirty="0"/>
          </a:p>
        </p:txBody>
      </p:sp>
      <p:sp>
        <p:nvSpPr>
          <p:cNvPr id="12" name="Text 6"/>
          <p:cNvSpPr/>
          <p:nvPr/>
        </p:nvSpPr>
        <p:spPr>
          <a:xfrm>
            <a:off x="2268022" y="5391983"/>
            <a:ext cx="60821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Read Block 16 for the password with Custom Key.</a:t>
            </a:r>
            <a:endParaRPr lang="en-US" sz="1750" dirty="0"/>
          </a:p>
        </p:txBody>
      </p:sp>
      <p:pic>
        <p:nvPicPr>
          <p:cNvPr id="13" name="Image 4" descr="preencoded.png">    </p:cNvPr>
          <p:cNvPicPr>
            <a:picLocks noChangeAspect="1"/>
          </p:cNvPicPr>
          <p:nvPr/>
        </p:nvPicPr>
        <p:blipFill>
          <a:blip r:embed="rId5"/>
          <a:stretch>
            <a:fillRect/>
          </a:stretch>
        </p:blipFill>
        <p:spPr>
          <a:xfrm>
            <a:off x="793790" y="6017895"/>
            <a:ext cx="1134070" cy="1360884"/>
          </a:xfrm>
          <a:prstGeom prst="rect">
            <a:avLst/>
          </a:prstGeom>
        </p:spPr>
      </p:pic>
      <p:sp>
        <p:nvSpPr>
          <p:cNvPr id="14" name="Text 7"/>
          <p:cNvSpPr/>
          <p:nvPr/>
        </p:nvSpPr>
        <p:spPr>
          <a:xfrm>
            <a:off x="2268022" y="6244709"/>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Unlock Door</a:t>
            </a:r>
            <a:endParaRPr lang="en-US" sz="2300" dirty="0"/>
          </a:p>
        </p:txBody>
      </p:sp>
      <p:sp>
        <p:nvSpPr>
          <p:cNvPr id="15" name="Text 8"/>
          <p:cNvSpPr/>
          <p:nvPr/>
        </p:nvSpPr>
        <p:spPr>
          <a:xfrm>
            <a:off x="2268022" y="6752868"/>
            <a:ext cx="60821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If password matches "Security", unlock.</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92361"/>
            <a:ext cx="4167902" cy="521017"/>
          </a:xfrm>
          <a:prstGeom prst="rect">
            <a:avLst/>
          </a:prstGeom>
          <a:noFill/>
          <a:ln/>
        </p:spPr>
        <p:txBody>
          <a:bodyPr wrap="none" lIns="0" tIns="0" rIns="0" bIns="0" rtlCol="0" anchor="t"/>
          <a:lstStyle/>
          <a:p>
            <a:pPr algn="l" indent="0" marL="0">
              <a:lnSpc>
                <a:spcPts val="4100"/>
              </a:lnSpc>
              <a:buNone/>
            </a:pPr>
            <a:r>
              <a:rPr lang="en-US" sz="3250" dirty="0">
                <a:solidFill>
                  <a:srgbClr val="020202"/>
                </a:solidFill>
                <a:latin typeface="PT Serif" pitchFamily="34" charset="0"/>
                <a:ea typeface="PT Serif" pitchFamily="34" charset="-122"/>
                <a:cs typeface="PT Serif" pitchFamily="34" charset="-120"/>
              </a:rPr>
              <a:t>Security Features</a:t>
            </a:r>
            <a:endParaRPr lang="en-US" sz="3250" dirty="0"/>
          </a:p>
        </p:txBody>
      </p:sp>
      <p:pic>
        <p:nvPicPr>
          <p:cNvPr id="4" name="Image 1" descr="preencoded.png">    </p:cNvPr>
          <p:cNvPicPr>
            <a:picLocks noChangeAspect="1"/>
          </p:cNvPicPr>
          <p:nvPr/>
        </p:nvPicPr>
        <p:blipFill>
          <a:blip r:embed="rId2"/>
          <a:stretch>
            <a:fillRect/>
          </a:stretch>
        </p:blipFill>
        <p:spPr>
          <a:xfrm>
            <a:off x="793790" y="1551503"/>
            <a:ext cx="396835" cy="396835"/>
          </a:xfrm>
          <a:prstGeom prst="rect">
            <a:avLst/>
          </a:prstGeom>
        </p:spPr>
      </p:pic>
      <p:sp>
        <p:nvSpPr>
          <p:cNvPr id="5" name="Text 1"/>
          <p:cNvSpPr/>
          <p:nvPr/>
        </p:nvSpPr>
        <p:spPr>
          <a:xfrm>
            <a:off x="793790" y="2107049"/>
            <a:ext cx="2083951" cy="260390"/>
          </a:xfrm>
          <a:prstGeom prst="rect">
            <a:avLst/>
          </a:prstGeom>
          <a:noFill/>
          <a:ln/>
        </p:spPr>
        <p:txBody>
          <a:bodyPr wrap="none" lIns="0" tIns="0" rIns="0" bIns="0" rtlCol="0" anchor="t"/>
          <a:lstStyle/>
          <a:p>
            <a:pPr algn="l" indent="0" marL="0">
              <a:lnSpc>
                <a:spcPts val="2050"/>
              </a:lnSpc>
              <a:buNone/>
            </a:pPr>
            <a:r>
              <a:rPr lang="en-US" sz="1600" dirty="0">
                <a:solidFill>
                  <a:srgbClr val="383838"/>
                </a:solidFill>
                <a:latin typeface="PT Serif" pitchFamily="34" charset="0"/>
                <a:ea typeface="PT Serif" pitchFamily="34" charset="-122"/>
                <a:cs typeface="PT Serif" pitchFamily="34" charset="-120"/>
              </a:rPr>
              <a:t>Correct Password</a:t>
            </a:r>
            <a:endParaRPr lang="en-US" sz="1600" dirty="0"/>
          </a:p>
        </p:txBody>
      </p:sp>
      <p:sp>
        <p:nvSpPr>
          <p:cNvPr id="6" name="Text 2"/>
          <p:cNvSpPr/>
          <p:nvPr/>
        </p:nvSpPr>
        <p:spPr>
          <a:xfrm>
            <a:off x="793790" y="2462689"/>
            <a:ext cx="2360057"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Need correct password.</a:t>
            </a:r>
            <a:endParaRPr lang="en-US" sz="1250" dirty="0"/>
          </a:p>
        </p:txBody>
      </p:sp>
      <p:pic>
        <p:nvPicPr>
          <p:cNvPr id="7" name="Image 2" descr="preencoded.png">    </p:cNvPr>
          <p:cNvPicPr>
            <a:picLocks noChangeAspect="1"/>
          </p:cNvPicPr>
          <p:nvPr/>
        </p:nvPicPr>
        <p:blipFill>
          <a:blip r:embed="rId3"/>
          <a:stretch>
            <a:fillRect/>
          </a:stretch>
        </p:blipFill>
        <p:spPr>
          <a:xfrm>
            <a:off x="3391972" y="1551503"/>
            <a:ext cx="396835" cy="396835"/>
          </a:xfrm>
          <a:prstGeom prst="rect">
            <a:avLst/>
          </a:prstGeom>
        </p:spPr>
      </p:pic>
      <p:sp>
        <p:nvSpPr>
          <p:cNvPr id="8" name="Text 3"/>
          <p:cNvSpPr/>
          <p:nvPr/>
        </p:nvSpPr>
        <p:spPr>
          <a:xfrm>
            <a:off x="3391972" y="2107049"/>
            <a:ext cx="2083951" cy="260390"/>
          </a:xfrm>
          <a:prstGeom prst="rect">
            <a:avLst/>
          </a:prstGeom>
          <a:noFill/>
          <a:ln/>
        </p:spPr>
        <p:txBody>
          <a:bodyPr wrap="none" lIns="0" tIns="0" rIns="0" bIns="0" rtlCol="0" anchor="t"/>
          <a:lstStyle/>
          <a:p>
            <a:pPr algn="l" indent="0" marL="0">
              <a:lnSpc>
                <a:spcPts val="2050"/>
              </a:lnSpc>
              <a:buNone/>
            </a:pPr>
            <a:r>
              <a:rPr lang="en-US" sz="1600" dirty="0">
                <a:solidFill>
                  <a:srgbClr val="383838"/>
                </a:solidFill>
                <a:latin typeface="PT Serif" pitchFamily="34" charset="0"/>
                <a:ea typeface="PT Serif" pitchFamily="34" charset="-122"/>
                <a:cs typeface="PT Serif" pitchFamily="34" charset="-120"/>
              </a:rPr>
              <a:t>Protected Block</a:t>
            </a:r>
            <a:endParaRPr lang="en-US" sz="1600" dirty="0"/>
          </a:p>
        </p:txBody>
      </p:sp>
      <p:sp>
        <p:nvSpPr>
          <p:cNvPr id="9" name="Text 4"/>
          <p:cNvSpPr/>
          <p:nvPr/>
        </p:nvSpPr>
        <p:spPr>
          <a:xfrm>
            <a:off x="3391972" y="2462689"/>
            <a:ext cx="2360057"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Block 16 is protected.</a:t>
            </a:r>
            <a:endParaRPr lang="en-US" sz="1250" dirty="0"/>
          </a:p>
        </p:txBody>
      </p:sp>
      <p:pic>
        <p:nvPicPr>
          <p:cNvPr id="10" name="Image 3" descr="preencoded.png">    </p:cNvPr>
          <p:cNvPicPr>
            <a:picLocks noChangeAspect="1"/>
          </p:cNvPicPr>
          <p:nvPr/>
        </p:nvPicPr>
        <p:blipFill>
          <a:blip r:embed="rId4"/>
          <a:stretch>
            <a:fillRect/>
          </a:stretch>
        </p:blipFill>
        <p:spPr>
          <a:xfrm>
            <a:off x="5990153" y="1551503"/>
            <a:ext cx="396835" cy="396835"/>
          </a:xfrm>
          <a:prstGeom prst="rect">
            <a:avLst/>
          </a:prstGeom>
        </p:spPr>
      </p:pic>
      <p:sp>
        <p:nvSpPr>
          <p:cNvPr id="11" name="Text 5"/>
          <p:cNvSpPr/>
          <p:nvPr/>
        </p:nvSpPr>
        <p:spPr>
          <a:xfrm>
            <a:off x="5990153" y="2107049"/>
            <a:ext cx="2083951" cy="260390"/>
          </a:xfrm>
          <a:prstGeom prst="rect">
            <a:avLst/>
          </a:prstGeom>
          <a:noFill/>
          <a:ln/>
        </p:spPr>
        <p:txBody>
          <a:bodyPr wrap="none" lIns="0" tIns="0" rIns="0" bIns="0" rtlCol="0" anchor="t"/>
          <a:lstStyle/>
          <a:p>
            <a:pPr algn="l" indent="0" marL="0">
              <a:lnSpc>
                <a:spcPts val="2050"/>
              </a:lnSpc>
              <a:buNone/>
            </a:pPr>
            <a:r>
              <a:rPr lang="en-US" sz="1600" dirty="0">
                <a:solidFill>
                  <a:srgbClr val="383838"/>
                </a:solidFill>
                <a:latin typeface="PT Serif" pitchFamily="34" charset="0"/>
                <a:ea typeface="PT Serif" pitchFamily="34" charset="-122"/>
                <a:cs typeface="PT Serif" pitchFamily="34" charset="-120"/>
              </a:rPr>
              <a:t>Access Denied</a:t>
            </a:r>
            <a:endParaRPr lang="en-US" sz="1600" dirty="0"/>
          </a:p>
        </p:txBody>
      </p:sp>
      <p:sp>
        <p:nvSpPr>
          <p:cNvPr id="12" name="Text 6"/>
          <p:cNvSpPr/>
          <p:nvPr/>
        </p:nvSpPr>
        <p:spPr>
          <a:xfrm>
            <a:off x="5990153" y="2462689"/>
            <a:ext cx="2360057"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Fails authentication.</a:t>
            </a:r>
            <a:endParaRPr lang="en-US" sz="1250" dirty="0"/>
          </a:p>
        </p:txBody>
      </p:sp>
      <p:sp>
        <p:nvSpPr>
          <p:cNvPr id="13" name="Text 7"/>
          <p:cNvSpPr/>
          <p:nvPr/>
        </p:nvSpPr>
        <p:spPr>
          <a:xfrm>
            <a:off x="793790" y="2954893"/>
            <a:ext cx="4245173" cy="521017"/>
          </a:xfrm>
          <a:prstGeom prst="rect">
            <a:avLst/>
          </a:prstGeom>
          <a:noFill/>
          <a:ln/>
        </p:spPr>
        <p:txBody>
          <a:bodyPr wrap="none" lIns="0" tIns="0" rIns="0" bIns="0" rtlCol="0" anchor="t"/>
          <a:lstStyle/>
          <a:p>
            <a:pPr algn="l" indent="0" marL="0">
              <a:lnSpc>
                <a:spcPts val="4100"/>
              </a:lnSpc>
              <a:buNone/>
            </a:pPr>
            <a:r>
              <a:rPr lang="en-US" sz="3250" dirty="0">
                <a:solidFill>
                  <a:srgbClr val="020202"/>
                </a:solidFill>
                <a:latin typeface="PT Serif" pitchFamily="34" charset="0"/>
                <a:ea typeface="PT Serif" pitchFamily="34" charset="-122"/>
                <a:cs typeface="PT Serif" pitchFamily="34" charset="-120"/>
              </a:rPr>
              <a:t>System Demonstration</a:t>
            </a:r>
            <a:endParaRPr lang="en-US" sz="3250" dirty="0"/>
          </a:p>
        </p:txBody>
      </p:sp>
      <p:sp>
        <p:nvSpPr>
          <p:cNvPr id="14" name="Text 8"/>
          <p:cNvSpPr/>
          <p:nvPr/>
        </p:nvSpPr>
        <p:spPr>
          <a:xfrm>
            <a:off x="793790" y="3714036"/>
            <a:ext cx="7556421"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See our RFID system in action. Watch a successful authentication in real time.</a:t>
            </a:r>
            <a:endParaRPr lang="en-US" sz="1250" dirty="0"/>
          </a:p>
        </p:txBody>
      </p:sp>
      <p:pic>
        <p:nvPicPr>
          <p:cNvPr id="15" name="Image 4" descr="preencoded.png">    </p:cNvPr>
          <p:cNvPicPr>
            <a:picLocks noChangeAspect="1"/>
          </p:cNvPicPr>
          <p:nvPr/>
        </p:nvPicPr>
        <p:blipFill>
          <a:blip r:embed="rId5"/>
          <a:stretch>
            <a:fillRect/>
          </a:stretch>
        </p:blipFill>
        <p:spPr>
          <a:xfrm>
            <a:off x="793790" y="4146709"/>
            <a:ext cx="793790" cy="952619"/>
          </a:xfrm>
          <a:prstGeom prst="rect">
            <a:avLst/>
          </a:prstGeom>
        </p:spPr>
      </p:pic>
      <p:sp>
        <p:nvSpPr>
          <p:cNvPr id="16" name="Text 9"/>
          <p:cNvSpPr/>
          <p:nvPr/>
        </p:nvSpPr>
        <p:spPr>
          <a:xfrm>
            <a:off x="1825704" y="4305419"/>
            <a:ext cx="2083951" cy="260390"/>
          </a:xfrm>
          <a:prstGeom prst="rect">
            <a:avLst/>
          </a:prstGeom>
          <a:noFill/>
          <a:ln/>
        </p:spPr>
        <p:txBody>
          <a:bodyPr wrap="none" lIns="0" tIns="0" rIns="0" bIns="0" rtlCol="0" anchor="t"/>
          <a:lstStyle/>
          <a:p>
            <a:pPr algn="l" indent="0" marL="0">
              <a:lnSpc>
                <a:spcPts val="2050"/>
              </a:lnSpc>
              <a:buNone/>
            </a:pPr>
            <a:r>
              <a:rPr lang="en-US" sz="1600" dirty="0">
                <a:solidFill>
                  <a:srgbClr val="383838"/>
                </a:solidFill>
                <a:latin typeface="PT Serif" pitchFamily="34" charset="0"/>
                <a:ea typeface="PT Serif" pitchFamily="34" charset="-122"/>
                <a:cs typeface="PT Serif" pitchFamily="34" charset="-120"/>
              </a:rPr>
              <a:t>Scan Authorized Card</a:t>
            </a:r>
            <a:endParaRPr lang="en-US" sz="1600" dirty="0"/>
          </a:p>
        </p:txBody>
      </p:sp>
      <p:sp>
        <p:nvSpPr>
          <p:cNvPr id="17" name="Text 10"/>
          <p:cNvSpPr/>
          <p:nvPr/>
        </p:nvSpPr>
        <p:spPr>
          <a:xfrm>
            <a:off x="1825704" y="4661059"/>
            <a:ext cx="6524506"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The system recognizes the card's UID.</a:t>
            </a:r>
            <a:endParaRPr lang="en-US" sz="1250" dirty="0"/>
          </a:p>
        </p:txBody>
      </p:sp>
      <p:pic>
        <p:nvPicPr>
          <p:cNvPr id="18" name="Image 5" descr="preencoded.png">    </p:cNvPr>
          <p:cNvPicPr>
            <a:picLocks noChangeAspect="1"/>
          </p:cNvPicPr>
          <p:nvPr/>
        </p:nvPicPr>
        <p:blipFill>
          <a:blip r:embed="rId6"/>
          <a:stretch>
            <a:fillRect/>
          </a:stretch>
        </p:blipFill>
        <p:spPr>
          <a:xfrm>
            <a:off x="793790" y="5099328"/>
            <a:ext cx="793790" cy="952619"/>
          </a:xfrm>
          <a:prstGeom prst="rect">
            <a:avLst/>
          </a:prstGeom>
        </p:spPr>
      </p:pic>
      <p:sp>
        <p:nvSpPr>
          <p:cNvPr id="19" name="Text 11"/>
          <p:cNvSpPr/>
          <p:nvPr/>
        </p:nvSpPr>
        <p:spPr>
          <a:xfrm>
            <a:off x="1825704" y="5258038"/>
            <a:ext cx="2083951" cy="260390"/>
          </a:xfrm>
          <a:prstGeom prst="rect">
            <a:avLst/>
          </a:prstGeom>
          <a:noFill/>
          <a:ln/>
        </p:spPr>
        <p:txBody>
          <a:bodyPr wrap="none" lIns="0" tIns="0" rIns="0" bIns="0" rtlCol="0" anchor="t"/>
          <a:lstStyle/>
          <a:p>
            <a:pPr algn="l" indent="0" marL="0">
              <a:lnSpc>
                <a:spcPts val="2050"/>
              </a:lnSpc>
              <a:buNone/>
            </a:pPr>
            <a:r>
              <a:rPr lang="en-US" sz="1600" dirty="0">
                <a:solidFill>
                  <a:srgbClr val="383838"/>
                </a:solidFill>
                <a:latin typeface="PT Serif" pitchFamily="34" charset="0"/>
                <a:ea typeface="PT Serif" pitchFamily="34" charset="-122"/>
                <a:cs typeface="PT Serif" pitchFamily="34" charset="-120"/>
              </a:rPr>
              <a:t>Password Matches</a:t>
            </a:r>
            <a:endParaRPr lang="en-US" sz="1600" dirty="0"/>
          </a:p>
        </p:txBody>
      </p:sp>
      <p:sp>
        <p:nvSpPr>
          <p:cNvPr id="20" name="Text 12"/>
          <p:cNvSpPr/>
          <p:nvPr/>
        </p:nvSpPr>
        <p:spPr>
          <a:xfrm>
            <a:off x="1825704" y="5613678"/>
            <a:ext cx="6524506"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The stored password matches the card.</a:t>
            </a:r>
            <a:endParaRPr lang="en-US" sz="1250" dirty="0"/>
          </a:p>
        </p:txBody>
      </p:sp>
      <p:pic>
        <p:nvPicPr>
          <p:cNvPr id="21" name="Image 6" descr="preencoded.png">    </p:cNvPr>
          <p:cNvPicPr>
            <a:picLocks noChangeAspect="1"/>
          </p:cNvPicPr>
          <p:nvPr/>
        </p:nvPicPr>
        <p:blipFill>
          <a:blip r:embed="rId7"/>
          <a:stretch>
            <a:fillRect/>
          </a:stretch>
        </p:blipFill>
        <p:spPr>
          <a:xfrm>
            <a:off x="793790" y="6051947"/>
            <a:ext cx="793790" cy="952619"/>
          </a:xfrm>
          <a:prstGeom prst="rect">
            <a:avLst/>
          </a:prstGeom>
        </p:spPr>
      </p:pic>
      <p:sp>
        <p:nvSpPr>
          <p:cNvPr id="22" name="Text 13"/>
          <p:cNvSpPr/>
          <p:nvPr/>
        </p:nvSpPr>
        <p:spPr>
          <a:xfrm>
            <a:off x="1825704" y="6210657"/>
            <a:ext cx="2083951" cy="260390"/>
          </a:xfrm>
          <a:prstGeom prst="rect">
            <a:avLst/>
          </a:prstGeom>
          <a:noFill/>
          <a:ln/>
        </p:spPr>
        <p:txBody>
          <a:bodyPr wrap="none" lIns="0" tIns="0" rIns="0" bIns="0" rtlCol="0" anchor="t"/>
          <a:lstStyle/>
          <a:p>
            <a:pPr algn="l" indent="0" marL="0">
              <a:lnSpc>
                <a:spcPts val="2050"/>
              </a:lnSpc>
              <a:buNone/>
            </a:pPr>
            <a:r>
              <a:rPr lang="en-US" sz="1600" dirty="0">
                <a:solidFill>
                  <a:srgbClr val="383838"/>
                </a:solidFill>
                <a:latin typeface="PT Serif" pitchFamily="34" charset="0"/>
                <a:ea typeface="PT Serif" pitchFamily="34" charset="-122"/>
                <a:cs typeface="PT Serif" pitchFamily="34" charset="-120"/>
              </a:rPr>
              <a:t>Door Unlocks</a:t>
            </a:r>
            <a:endParaRPr lang="en-US" sz="1600" dirty="0"/>
          </a:p>
        </p:txBody>
      </p:sp>
      <p:sp>
        <p:nvSpPr>
          <p:cNvPr id="23" name="Text 14"/>
          <p:cNvSpPr/>
          <p:nvPr/>
        </p:nvSpPr>
        <p:spPr>
          <a:xfrm>
            <a:off x="1825704" y="6566297"/>
            <a:ext cx="6524506"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Servo rotates, granting access.</a:t>
            </a:r>
            <a:endParaRPr lang="en-US" sz="1250" dirty="0"/>
          </a:p>
        </p:txBody>
      </p:sp>
      <p:sp>
        <p:nvSpPr>
          <p:cNvPr id="24" name="Text 15"/>
          <p:cNvSpPr/>
          <p:nvPr/>
        </p:nvSpPr>
        <p:spPr>
          <a:xfrm>
            <a:off x="793790" y="7183160"/>
            <a:ext cx="7556421" cy="254079"/>
          </a:xfrm>
          <a:prstGeom prst="rect">
            <a:avLst/>
          </a:prstGeom>
          <a:noFill/>
          <a:ln/>
        </p:spPr>
        <p:txBody>
          <a:bodyPr wrap="none" lIns="0" tIns="0" rIns="0" bIns="0" rtlCol="0" anchor="t"/>
          <a:lstStyle/>
          <a:p>
            <a:pPr algn="l" indent="0" marL="0">
              <a:lnSpc>
                <a:spcPts val="2000"/>
              </a:lnSpc>
              <a:buNone/>
            </a:pPr>
            <a:r>
              <a:rPr lang="en-US" sz="1250" dirty="0">
                <a:solidFill>
                  <a:srgbClr val="383838"/>
                </a:solidFill>
                <a:latin typeface="DM Sans" pitchFamily="34" charset="0"/>
                <a:ea typeface="DM Sans" pitchFamily="34" charset="-122"/>
                <a:cs typeface="DM Sans" pitchFamily="34" charset="-120"/>
              </a:rPr>
              <a:t>Witness a failed attempt: unauthorized card, access denied.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391960"/>
            <a:ext cx="7177683"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Testing Different Scenarios</a:t>
            </a:r>
            <a:endParaRPr lang="en-US" sz="4650" dirty="0"/>
          </a:p>
        </p:txBody>
      </p:sp>
      <p:sp>
        <p:nvSpPr>
          <p:cNvPr id="3" name="Text 1"/>
          <p:cNvSpPr/>
          <p:nvPr/>
        </p:nvSpPr>
        <p:spPr>
          <a:xfrm>
            <a:off x="793790" y="2589848"/>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We tested the RFID system under various conditions. This confirmed the robustness of our layered security approach. Results show that only the real card with the correct password works.</a:t>
            </a:r>
            <a:endParaRPr lang="en-US" sz="1750" dirty="0"/>
          </a:p>
        </p:txBody>
      </p:sp>
      <p:sp>
        <p:nvSpPr>
          <p:cNvPr id="4" name="Shape 2"/>
          <p:cNvSpPr/>
          <p:nvPr/>
        </p:nvSpPr>
        <p:spPr>
          <a:xfrm>
            <a:off x="793790" y="3570803"/>
            <a:ext cx="13042821" cy="3266837"/>
          </a:xfrm>
          <a:prstGeom prst="roundRect">
            <a:avLst>
              <a:gd name="adj" fmla="val 1042"/>
            </a:avLst>
          </a:prstGeom>
          <a:noFill/>
          <a:ln w="7620">
            <a:solidFill>
              <a:srgbClr val="000000">
                <a:alpha val="8000"/>
              </a:srgbClr>
            </a:solidFill>
            <a:prstDash val="solid"/>
          </a:ln>
        </p:spPr>
      </p:sp>
      <p:sp>
        <p:nvSpPr>
          <p:cNvPr id="5" name="Shape 3"/>
          <p:cNvSpPr/>
          <p:nvPr/>
        </p:nvSpPr>
        <p:spPr>
          <a:xfrm>
            <a:off x="801410" y="3578423"/>
            <a:ext cx="13027581" cy="650319"/>
          </a:xfrm>
          <a:prstGeom prst="rect">
            <a:avLst/>
          </a:prstGeom>
          <a:solidFill>
            <a:srgbClr val="FFFFFF">
              <a:alpha val="4000"/>
            </a:srgbClr>
          </a:solidFill>
          <a:ln/>
        </p:spPr>
      </p:sp>
      <p:sp>
        <p:nvSpPr>
          <p:cNvPr id="6" name="Text 4"/>
          <p:cNvSpPr/>
          <p:nvPr/>
        </p:nvSpPr>
        <p:spPr>
          <a:xfrm>
            <a:off x="1028224" y="3722132"/>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Test Case</a:t>
            </a:r>
            <a:endParaRPr lang="en-US" sz="1750" dirty="0"/>
          </a:p>
        </p:txBody>
      </p:sp>
      <p:sp>
        <p:nvSpPr>
          <p:cNvPr id="7" name="Text 5"/>
          <p:cNvSpPr/>
          <p:nvPr/>
        </p:nvSpPr>
        <p:spPr>
          <a:xfrm>
            <a:off x="7545824" y="3722132"/>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Expected Result</a:t>
            </a:r>
            <a:endParaRPr lang="en-US" sz="1750" dirty="0"/>
          </a:p>
        </p:txBody>
      </p:sp>
      <p:sp>
        <p:nvSpPr>
          <p:cNvPr id="8" name="Shape 6"/>
          <p:cNvSpPr/>
          <p:nvPr/>
        </p:nvSpPr>
        <p:spPr>
          <a:xfrm>
            <a:off x="801410" y="4228743"/>
            <a:ext cx="13027581" cy="650319"/>
          </a:xfrm>
          <a:prstGeom prst="rect">
            <a:avLst/>
          </a:prstGeom>
          <a:solidFill>
            <a:srgbClr val="000000">
              <a:alpha val="4000"/>
            </a:srgbClr>
          </a:solidFill>
          <a:ln/>
        </p:spPr>
      </p:sp>
      <p:sp>
        <p:nvSpPr>
          <p:cNvPr id="9" name="Text 7"/>
          <p:cNvSpPr/>
          <p:nvPr/>
        </p:nvSpPr>
        <p:spPr>
          <a:xfrm>
            <a:off x="1028224" y="4372451"/>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Correct UID + Correct Password</a:t>
            </a:r>
            <a:endParaRPr lang="en-US" sz="1750" dirty="0"/>
          </a:p>
        </p:txBody>
      </p:sp>
      <p:sp>
        <p:nvSpPr>
          <p:cNvPr id="10" name="Text 8"/>
          <p:cNvSpPr/>
          <p:nvPr/>
        </p:nvSpPr>
        <p:spPr>
          <a:xfrm>
            <a:off x="7545824" y="4372451"/>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DM Sans" pitchFamily="34" charset="0"/>
                <a:ea typeface="DM Sans" pitchFamily="34" charset="-122"/>
                <a:cs typeface="DM Sans" pitchFamily="34" charset="-120"/>
              </a:rPr>
              <a:t>✅</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Access Granted</a:t>
            </a:r>
            <a:endParaRPr lang="en-US" sz="1750" dirty="0"/>
          </a:p>
        </p:txBody>
      </p:sp>
      <p:sp>
        <p:nvSpPr>
          <p:cNvPr id="11" name="Shape 9"/>
          <p:cNvSpPr/>
          <p:nvPr/>
        </p:nvSpPr>
        <p:spPr>
          <a:xfrm>
            <a:off x="801410" y="4879062"/>
            <a:ext cx="13027581" cy="650319"/>
          </a:xfrm>
          <a:prstGeom prst="rect">
            <a:avLst/>
          </a:prstGeom>
          <a:solidFill>
            <a:srgbClr val="FFFFFF">
              <a:alpha val="4000"/>
            </a:srgbClr>
          </a:solidFill>
          <a:ln/>
        </p:spPr>
      </p:sp>
      <p:sp>
        <p:nvSpPr>
          <p:cNvPr id="12" name="Text 10"/>
          <p:cNvSpPr/>
          <p:nvPr/>
        </p:nvSpPr>
        <p:spPr>
          <a:xfrm>
            <a:off x="1028224" y="5022771"/>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Correct UID + Wrong Password</a:t>
            </a:r>
            <a:endParaRPr lang="en-US" sz="1750" dirty="0"/>
          </a:p>
        </p:txBody>
      </p:sp>
      <p:sp>
        <p:nvSpPr>
          <p:cNvPr id="13" name="Text 11"/>
          <p:cNvSpPr/>
          <p:nvPr/>
        </p:nvSpPr>
        <p:spPr>
          <a:xfrm>
            <a:off x="7545824" y="5022771"/>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DM Sans" pitchFamily="34" charset="0"/>
                <a:ea typeface="DM Sans" pitchFamily="34" charset="-122"/>
                <a:cs typeface="DM Sans" pitchFamily="34" charset="-120"/>
              </a:rPr>
              <a:t>❌</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Access Denied</a:t>
            </a:r>
            <a:endParaRPr lang="en-US" sz="1750" dirty="0"/>
          </a:p>
        </p:txBody>
      </p:sp>
      <p:sp>
        <p:nvSpPr>
          <p:cNvPr id="14" name="Shape 12"/>
          <p:cNvSpPr/>
          <p:nvPr/>
        </p:nvSpPr>
        <p:spPr>
          <a:xfrm>
            <a:off x="801410" y="5529382"/>
            <a:ext cx="13027581" cy="650319"/>
          </a:xfrm>
          <a:prstGeom prst="rect">
            <a:avLst/>
          </a:prstGeom>
          <a:solidFill>
            <a:srgbClr val="000000">
              <a:alpha val="4000"/>
            </a:srgbClr>
          </a:solidFill>
          <a:ln/>
        </p:spPr>
      </p:sp>
      <p:sp>
        <p:nvSpPr>
          <p:cNvPr id="15" name="Text 13"/>
          <p:cNvSpPr/>
          <p:nvPr/>
        </p:nvSpPr>
        <p:spPr>
          <a:xfrm>
            <a:off x="1028224" y="5673090"/>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Wrong UID + Any Password</a:t>
            </a:r>
            <a:endParaRPr lang="en-US" sz="1750" dirty="0"/>
          </a:p>
        </p:txBody>
      </p:sp>
      <p:sp>
        <p:nvSpPr>
          <p:cNvPr id="16" name="Text 14"/>
          <p:cNvSpPr/>
          <p:nvPr/>
        </p:nvSpPr>
        <p:spPr>
          <a:xfrm>
            <a:off x="7545824" y="5673090"/>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DM Sans" pitchFamily="34" charset="0"/>
                <a:ea typeface="DM Sans" pitchFamily="34" charset="-122"/>
                <a:cs typeface="DM Sans" pitchFamily="34" charset="-120"/>
              </a:rPr>
              <a:t>❌</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Access Denied</a:t>
            </a:r>
            <a:endParaRPr lang="en-US" sz="1750" dirty="0"/>
          </a:p>
        </p:txBody>
      </p:sp>
      <p:sp>
        <p:nvSpPr>
          <p:cNvPr id="17" name="Shape 15"/>
          <p:cNvSpPr/>
          <p:nvPr/>
        </p:nvSpPr>
        <p:spPr>
          <a:xfrm>
            <a:off x="801410" y="6179701"/>
            <a:ext cx="13027581" cy="650319"/>
          </a:xfrm>
          <a:prstGeom prst="rect">
            <a:avLst/>
          </a:prstGeom>
          <a:solidFill>
            <a:srgbClr val="FFFFFF">
              <a:alpha val="4000"/>
            </a:srgbClr>
          </a:solidFill>
          <a:ln/>
        </p:spPr>
      </p:sp>
      <p:sp>
        <p:nvSpPr>
          <p:cNvPr id="18" name="Text 16"/>
          <p:cNvSpPr/>
          <p:nvPr/>
        </p:nvSpPr>
        <p:spPr>
          <a:xfrm>
            <a:off x="1028224" y="6323409"/>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Cloned UID + Any Password</a:t>
            </a:r>
            <a:endParaRPr lang="en-US" sz="1750" dirty="0"/>
          </a:p>
        </p:txBody>
      </p:sp>
      <p:sp>
        <p:nvSpPr>
          <p:cNvPr id="19" name="Text 17"/>
          <p:cNvSpPr/>
          <p:nvPr/>
        </p:nvSpPr>
        <p:spPr>
          <a:xfrm>
            <a:off x="7545824" y="6323409"/>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000000"/>
                </a:solidFill>
                <a:latin typeface="DM Sans" pitchFamily="34" charset="0"/>
                <a:ea typeface="DM Sans" pitchFamily="34" charset="-122"/>
                <a:cs typeface="DM Sans" pitchFamily="34" charset="-120"/>
              </a:rPr>
              <a:t>❌</a:t>
            </a:r>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 Access Denied</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731883"/>
            <a:ext cx="6974086"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Advantages of Our System</a:t>
            </a:r>
            <a:endParaRPr lang="en-US" sz="4650" dirty="0"/>
          </a:p>
        </p:txBody>
      </p:sp>
      <p:sp>
        <p:nvSpPr>
          <p:cNvPr id="3" name="Shape 1"/>
          <p:cNvSpPr/>
          <p:nvPr/>
        </p:nvSpPr>
        <p:spPr>
          <a:xfrm>
            <a:off x="793790" y="3184922"/>
            <a:ext cx="510302" cy="510302"/>
          </a:xfrm>
          <a:prstGeom prst="roundRect">
            <a:avLst>
              <a:gd name="adj" fmla="val 6667"/>
            </a:avLst>
          </a:prstGeom>
          <a:solidFill>
            <a:srgbClr val="F2EEEE"/>
          </a:solidFill>
          <a:ln/>
        </p:spPr>
      </p:sp>
      <p:sp>
        <p:nvSpPr>
          <p:cNvPr id="4" name="Text 2"/>
          <p:cNvSpPr/>
          <p:nvPr/>
        </p:nvSpPr>
        <p:spPr>
          <a:xfrm>
            <a:off x="870347" y="3216831"/>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1</a:t>
            </a:r>
            <a:endParaRPr lang="en-US" sz="2800" dirty="0"/>
          </a:p>
        </p:txBody>
      </p:sp>
      <p:sp>
        <p:nvSpPr>
          <p:cNvPr id="5" name="Text 3"/>
          <p:cNvSpPr/>
          <p:nvPr/>
        </p:nvSpPr>
        <p:spPr>
          <a:xfrm>
            <a:off x="1530906" y="3184922"/>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High Security</a:t>
            </a:r>
            <a:endParaRPr lang="en-US" sz="2300" dirty="0"/>
          </a:p>
        </p:txBody>
      </p:sp>
      <p:sp>
        <p:nvSpPr>
          <p:cNvPr id="6" name="Text 4"/>
          <p:cNvSpPr/>
          <p:nvPr/>
        </p:nvSpPr>
        <p:spPr>
          <a:xfrm>
            <a:off x="1530906" y="3693081"/>
            <a:ext cx="3459242"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Requires both UID and password. This layered approach strengthens protection.</a:t>
            </a:r>
            <a:endParaRPr lang="en-US" sz="1750" dirty="0"/>
          </a:p>
        </p:txBody>
      </p:sp>
      <p:sp>
        <p:nvSpPr>
          <p:cNvPr id="7" name="Shape 5"/>
          <p:cNvSpPr/>
          <p:nvPr/>
        </p:nvSpPr>
        <p:spPr>
          <a:xfrm>
            <a:off x="5216962" y="3184922"/>
            <a:ext cx="510302" cy="510302"/>
          </a:xfrm>
          <a:prstGeom prst="roundRect">
            <a:avLst>
              <a:gd name="adj" fmla="val 6667"/>
            </a:avLst>
          </a:prstGeom>
          <a:solidFill>
            <a:srgbClr val="F2EEEE"/>
          </a:solidFill>
          <a:ln/>
        </p:spPr>
      </p:sp>
      <p:sp>
        <p:nvSpPr>
          <p:cNvPr id="8" name="Text 6"/>
          <p:cNvSpPr/>
          <p:nvPr/>
        </p:nvSpPr>
        <p:spPr>
          <a:xfrm>
            <a:off x="5293519" y="3216831"/>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2</a:t>
            </a:r>
            <a:endParaRPr lang="en-US" sz="2800" dirty="0"/>
          </a:p>
        </p:txBody>
      </p:sp>
      <p:sp>
        <p:nvSpPr>
          <p:cNvPr id="9" name="Text 7"/>
          <p:cNvSpPr/>
          <p:nvPr/>
        </p:nvSpPr>
        <p:spPr>
          <a:xfrm>
            <a:off x="5954078" y="3184922"/>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Prevents UID Cloning</a:t>
            </a:r>
            <a:endParaRPr lang="en-US" sz="2300" dirty="0"/>
          </a:p>
        </p:txBody>
      </p:sp>
      <p:sp>
        <p:nvSpPr>
          <p:cNvPr id="10" name="Text 8"/>
          <p:cNvSpPr/>
          <p:nvPr/>
        </p:nvSpPr>
        <p:spPr>
          <a:xfrm>
            <a:off x="5954078" y="3693081"/>
            <a:ext cx="3459242"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A copied UID is useless without the correct password. Eliminates cloning risks.</a:t>
            </a:r>
            <a:endParaRPr lang="en-US" sz="1750" dirty="0"/>
          </a:p>
        </p:txBody>
      </p:sp>
      <p:sp>
        <p:nvSpPr>
          <p:cNvPr id="11" name="Shape 9"/>
          <p:cNvSpPr/>
          <p:nvPr/>
        </p:nvSpPr>
        <p:spPr>
          <a:xfrm>
            <a:off x="9640133" y="3184922"/>
            <a:ext cx="510302" cy="510302"/>
          </a:xfrm>
          <a:prstGeom prst="roundRect">
            <a:avLst>
              <a:gd name="adj" fmla="val 6667"/>
            </a:avLst>
          </a:prstGeom>
          <a:solidFill>
            <a:srgbClr val="F2EEEE"/>
          </a:solidFill>
          <a:ln/>
        </p:spPr>
      </p:sp>
      <p:sp>
        <p:nvSpPr>
          <p:cNvPr id="12" name="Text 10"/>
          <p:cNvSpPr/>
          <p:nvPr/>
        </p:nvSpPr>
        <p:spPr>
          <a:xfrm>
            <a:off x="9716691" y="3216831"/>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3</a:t>
            </a:r>
            <a:endParaRPr lang="en-US" sz="2800" dirty="0"/>
          </a:p>
        </p:txBody>
      </p:sp>
      <p:sp>
        <p:nvSpPr>
          <p:cNvPr id="13" name="Text 11"/>
          <p:cNvSpPr/>
          <p:nvPr/>
        </p:nvSpPr>
        <p:spPr>
          <a:xfrm>
            <a:off x="10377249" y="3184922"/>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Fast and Efficient</a:t>
            </a:r>
            <a:endParaRPr lang="en-US" sz="2300" dirty="0"/>
          </a:p>
        </p:txBody>
      </p:sp>
      <p:sp>
        <p:nvSpPr>
          <p:cNvPr id="14" name="Text 12"/>
          <p:cNvSpPr/>
          <p:nvPr/>
        </p:nvSpPr>
        <p:spPr>
          <a:xfrm>
            <a:off x="10377249" y="3693081"/>
            <a:ext cx="3459242"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RFID scanning offers instant access. No delays, just quick authentication.</a:t>
            </a:r>
            <a:endParaRPr lang="en-US" sz="1750" dirty="0"/>
          </a:p>
        </p:txBody>
      </p:sp>
      <p:sp>
        <p:nvSpPr>
          <p:cNvPr id="15" name="Shape 13"/>
          <p:cNvSpPr/>
          <p:nvPr/>
        </p:nvSpPr>
        <p:spPr>
          <a:xfrm>
            <a:off x="793790" y="5263753"/>
            <a:ext cx="510302" cy="510302"/>
          </a:xfrm>
          <a:prstGeom prst="roundRect">
            <a:avLst>
              <a:gd name="adj" fmla="val 6667"/>
            </a:avLst>
          </a:prstGeom>
          <a:solidFill>
            <a:srgbClr val="F2EEEE"/>
          </a:solidFill>
          <a:ln/>
        </p:spPr>
      </p:sp>
      <p:sp>
        <p:nvSpPr>
          <p:cNvPr id="16" name="Text 14"/>
          <p:cNvSpPr/>
          <p:nvPr/>
        </p:nvSpPr>
        <p:spPr>
          <a:xfrm>
            <a:off x="870347" y="5295662"/>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4</a:t>
            </a:r>
            <a:endParaRPr lang="en-US" sz="2800" dirty="0"/>
          </a:p>
        </p:txBody>
      </p:sp>
      <p:sp>
        <p:nvSpPr>
          <p:cNvPr id="17" name="Text 15"/>
          <p:cNvSpPr/>
          <p:nvPr/>
        </p:nvSpPr>
        <p:spPr>
          <a:xfrm>
            <a:off x="1530906" y="526375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Cost-Effective</a:t>
            </a:r>
            <a:endParaRPr lang="en-US" sz="2300" dirty="0"/>
          </a:p>
        </p:txBody>
      </p:sp>
      <p:sp>
        <p:nvSpPr>
          <p:cNvPr id="18" name="Text 16"/>
          <p:cNvSpPr/>
          <p:nvPr/>
        </p:nvSpPr>
        <p:spPr>
          <a:xfrm>
            <a:off x="1530906" y="5771912"/>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Cheaper than fingerprint or facial recognition. Provides security without the expense.</a:t>
            </a:r>
            <a:endParaRPr lang="en-US" sz="1750" dirty="0"/>
          </a:p>
        </p:txBody>
      </p:sp>
      <p:sp>
        <p:nvSpPr>
          <p:cNvPr id="19" name="Shape 17"/>
          <p:cNvSpPr/>
          <p:nvPr/>
        </p:nvSpPr>
        <p:spPr>
          <a:xfrm>
            <a:off x="7428667" y="5263753"/>
            <a:ext cx="510302" cy="510302"/>
          </a:xfrm>
          <a:prstGeom prst="roundRect">
            <a:avLst>
              <a:gd name="adj" fmla="val 6667"/>
            </a:avLst>
          </a:prstGeom>
          <a:solidFill>
            <a:srgbClr val="F2EEEE"/>
          </a:solidFill>
          <a:ln/>
        </p:spPr>
      </p:sp>
      <p:sp>
        <p:nvSpPr>
          <p:cNvPr id="20" name="Text 18"/>
          <p:cNvSpPr/>
          <p:nvPr/>
        </p:nvSpPr>
        <p:spPr>
          <a:xfrm>
            <a:off x="7505224" y="5295662"/>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5</a:t>
            </a:r>
            <a:endParaRPr lang="en-US" sz="2800" dirty="0"/>
          </a:p>
        </p:txBody>
      </p:sp>
      <p:sp>
        <p:nvSpPr>
          <p:cNvPr id="21" name="Text 19"/>
          <p:cNvSpPr/>
          <p:nvPr/>
        </p:nvSpPr>
        <p:spPr>
          <a:xfrm>
            <a:off x="8165783" y="5263753"/>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Low Power</a:t>
            </a:r>
            <a:endParaRPr lang="en-US" sz="2300" dirty="0"/>
          </a:p>
        </p:txBody>
      </p:sp>
      <p:sp>
        <p:nvSpPr>
          <p:cNvPr id="22" name="Text 20"/>
          <p:cNvSpPr/>
          <p:nvPr/>
        </p:nvSpPr>
        <p:spPr>
          <a:xfrm>
            <a:off x="8165783" y="5771912"/>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Operates using a simple power supply. Ensures energy efficiency during operation.</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2589848"/>
            <a:ext cx="6782991"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Limitations &amp; Challenges</a:t>
            </a:r>
            <a:endParaRPr lang="en-US" sz="4650" dirty="0"/>
          </a:p>
        </p:txBody>
      </p:sp>
      <p:sp>
        <p:nvSpPr>
          <p:cNvPr id="3" name="Shape 1"/>
          <p:cNvSpPr/>
          <p:nvPr/>
        </p:nvSpPr>
        <p:spPr>
          <a:xfrm>
            <a:off x="793790" y="4042886"/>
            <a:ext cx="510302" cy="510302"/>
          </a:xfrm>
          <a:prstGeom prst="roundRect">
            <a:avLst>
              <a:gd name="adj" fmla="val 6667"/>
            </a:avLst>
          </a:prstGeom>
          <a:solidFill>
            <a:srgbClr val="F2EEEE"/>
          </a:solidFill>
          <a:ln/>
        </p:spPr>
      </p:sp>
      <p:sp>
        <p:nvSpPr>
          <p:cNvPr id="4" name="Text 2"/>
          <p:cNvSpPr/>
          <p:nvPr/>
        </p:nvSpPr>
        <p:spPr>
          <a:xfrm>
            <a:off x="870347" y="4074795"/>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1</a:t>
            </a:r>
            <a:endParaRPr lang="en-US" sz="2800" dirty="0"/>
          </a:p>
        </p:txBody>
      </p:sp>
      <p:sp>
        <p:nvSpPr>
          <p:cNvPr id="5" name="Text 3"/>
          <p:cNvSpPr/>
          <p:nvPr/>
        </p:nvSpPr>
        <p:spPr>
          <a:xfrm>
            <a:off x="1530906" y="4042886"/>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Lost RFID Card</a:t>
            </a:r>
            <a:endParaRPr lang="en-US" sz="2300" dirty="0"/>
          </a:p>
        </p:txBody>
      </p:sp>
      <p:sp>
        <p:nvSpPr>
          <p:cNvPr id="6" name="Text 4"/>
          <p:cNvSpPr/>
          <p:nvPr/>
        </p:nvSpPr>
        <p:spPr>
          <a:xfrm>
            <a:off x="1530906" y="4551045"/>
            <a:ext cx="3459242"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If the card is lost, access is lost. The solution is to use a backup card.</a:t>
            </a:r>
            <a:endParaRPr lang="en-US" sz="1750" dirty="0"/>
          </a:p>
        </p:txBody>
      </p:sp>
      <p:sp>
        <p:nvSpPr>
          <p:cNvPr id="7" name="Shape 5"/>
          <p:cNvSpPr/>
          <p:nvPr/>
        </p:nvSpPr>
        <p:spPr>
          <a:xfrm>
            <a:off x="5216962" y="4042886"/>
            <a:ext cx="510302" cy="510302"/>
          </a:xfrm>
          <a:prstGeom prst="roundRect">
            <a:avLst>
              <a:gd name="adj" fmla="val 6667"/>
            </a:avLst>
          </a:prstGeom>
          <a:solidFill>
            <a:srgbClr val="F2EEEE"/>
          </a:solidFill>
          <a:ln/>
        </p:spPr>
      </p:sp>
      <p:sp>
        <p:nvSpPr>
          <p:cNvPr id="8" name="Text 6"/>
          <p:cNvSpPr/>
          <p:nvPr/>
        </p:nvSpPr>
        <p:spPr>
          <a:xfrm>
            <a:off x="5293519" y="4074795"/>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2</a:t>
            </a:r>
            <a:endParaRPr lang="en-US" sz="2800" dirty="0"/>
          </a:p>
        </p:txBody>
      </p:sp>
      <p:sp>
        <p:nvSpPr>
          <p:cNvPr id="9" name="Text 7"/>
          <p:cNvSpPr/>
          <p:nvPr/>
        </p:nvSpPr>
        <p:spPr>
          <a:xfrm>
            <a:off x="5954078" y="4042886"/>
            <a:ext cx="3048357"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Damaged RFID Module</a:t>
            </a:r>
            <a:endParaRPr lang="en-US" sz="2300" dirty="0"/>
          </a:p>
        </p:txBody>
      </p:sp>
      <p:sp>
        <p:nvSpPr>
          <p:cNvPr id="10" name="Text 8"/>
          <p:cNvSpPr/>
          <p:nvPr/>
        </p:nvSpPr>
        <p:spPr>
          <a:xfrm>
            <a:off x="5954078" y="4551045"/>
            <a:ext cx="3459242"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If the RFID module fails, the system will not work. Add a biometric as backup.</a:t>
            </a:r>
            <a:endParaRPr lang="en-US" sz="1750" dirty="0"/>
          </a:p>
        </p:txBody>
      </p:sp>
      <p:sp>
        <p:nvSpPr>
          <p:cNvPr id="11" name="Shape 9"/>
          <p:cNvSpPr/>
          <p:nvPr/>
        </p:nvSpPr>
        <p:spPr>
          <a:xfrm>
            <a:off x="9640133" y="4042886"/>
            <a:ext cx="510302" cy="510302"/>
          </a:xfrm>
          <a:prstGeom prst="roundRect">
            <a:avLst>
              <a:gd name="adj" fmla="val 6667"/>
            </a:avLst>
          </a:prstGeom>
          <a:solidFill>
            <a:srgbClr val="F2EEEE"/>
          </a:solidFill>
          <a:ln/>
        </p:spPr>
      </p:sp>
      <p:sp>
        <p:nvSpPr>
          <p:cNvPr id="12" name="Text 10"/>
          <p:cNvSpPr/>
          <p:nvPr/>
        </p:nvSpPr>
        <p:spPr>
          <a:xfrm>
            <a:off x="9716691" y="4074795"/>
            <a:ext cx="357188" cy="446484"/>
          </a:xfrm>
          <a:prstGeom prst="rect">
            <a:avLst/>
          </a:prstGeom>
          <a:noFill/>
          <a:ln/>
        </p:spPr>
        <p:txBody>
          <a:bodyPr wrap="none" lIns="0" tIns="0" rIns="0" bIns="0" rtlCol="0" anchor="t"/>
          <a:lstStyle/>
          <a:p>
            <a:pPr algn="ctr" indent="0" marL="0">
              <a:lnSpc>
                <a:spcPts val="2800"/>
              </a:lnSpc>
              <a:buNone/>
            </a:pPr>
            <a:r>
              <a:rPr lang="en-US" sz="2800" dirty="0">
                <a:solidFill>
                  <a:srgbClr val="383838"/>
                </a:solidFill>
                <a:latin typeface="PT Serif" pitchFamily="34" charset="0"/>
                <a:ea typeface="PT Serif" pitchFamily="34" charset="-122"/>
                <a:cs typeface="PT Serif" pitchFamily="34" charset="-120"/>
              </a:rPr>
              <a:t>3</a:t>
            </a:r>
            <a:endParaRPr lang="en-US" sz="2800" dirty="0"/>
          </a:p>
        </p:txBody>
      </p:sp>
      <p:sp>
        <p:nvSpPr>
          <p:cNvPr id="13" name="Text 11"/>
          <p:cNvSpPr/>
          <p:nvPr/>
        </p:nvSpPr>
        <p:spPr>
          <a:xfrm>
            <a:off x="10377249" y="4042886"/>
            <a:ext cx="3234928"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Not Ideal for Large Scale</a:t>
            </a:r>
            <a:endParaRPr lang="en-US" sz="2300" dirty="0"/>
          </a:p>
        </p:txBody>
      </p:sp>
      <p:sp>
        <p:nvSpPr>
          <p:cNvPr id="14" name="Text 12"/>
          <p:cNvSpPr/>
          <p:nvPr/>
        </p:nvSpPr>
        <p:spPr>
          <a:xfrm>
            <a:off x="10377249" y="4551045"/>
            <a:ext cx="3459242"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This is not suited for large-scale security. Enhance with IoT monitoring.</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320528"/>
            <a:ext cx="6447234"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Real-World Applications</a:t>
            </a:r>
            <a:endParaRPr lang="en-US" sz="4650" dirty="0"/>
          </a:p>
        </p:txBody>
      </p:sp>
      <p:pic>
        <p:nvPicPr>
          <p:cNvPr id="3" name="Image 0" descr="preencoded.png">    </p:cNvPr>
          <p:cNvPicPr>
            <a:picLocks noChangeAspect="1"/>
          </p:cNvPicPr>
          <p:nvPr/>
        </p:nvPicPr>
        <p:blipFill>
          <a:blip r:embed="rId1"/>
          <a:stretch>
            <a:fillRect/>
          </a:stretch>
        </p:blipFill>
        <p:spPr>
          <a:xfrm>
            <a:off x="793790" y="3518416"/>
            <a:ext cx="566976" cy="566976"/>
          </a:xfrm>
          <a:prstGeom prst="rect">
            <a:avLst/>
          </a:prstGeom>
        </p:spPr>
      </p:pic>
      <p:sp>
        <p:nvSpPr>
          <p:cNvPr id="4" name="Text 1"/>
          <p:cNvSpPr/>
          <p:nvPr/>
        </p:nvSpPr>
        <p:spPr>
          <a:xfrm>
            <a:off x="793790" y="4312206"/>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Smart Homes</a:t>
            </a:r>
            <a:endParaRPr lang="en-US" sz="2300" dirty="0"/>
          </a:p>
        </p:txBody>
      </p:sp>
      <p:sp>
        <p:nvSpPr>
          <p:cNvPr id="5" name="Text 2"/>
          <p:cNvSpPr/>
          <p:nvPr/>
        </p:nvSpPr>
        <p:spPr>
          <a:xfrm>
            <a:off x="793790" y="4820364"/>
            <a:ext cx="3005495"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Secure rooms and cabinets. Enhance security by restricting access.</a:t>
            </a:r>
            <a:endParaRPr lang="en-US" sz="1750" dirty="0"/>
          </a:p>
        </p:txBody>
      </p:sp>
      <p:pic>
        <p:nvPicPr>
          <p:cNvPr id="6" name="Image 1" descr="preencoded.png">    </p:cNvPr>
          <p:cNvPicPr>
            <a:picLocks noChangeAspect="1"/>
          </p:cNvPicPr>
          <p:nvPr/>
        </p:nvPicPr>
        <p:blipFill>
          <a:blip r:embed="rId2"/>
          <a:stretch>
            <a:fillRect/>
          </a:stretch>
        </p:blipFill>
        <p:spPr>
          <a:xfrm>
            <a:off x="4139446" y="3518416"/>
            <a:ext cx="566976" cy="566976"/>
          </a:xfrm>
          <a:prstGeom prst="rect">
            <a:avLst/>
          </a:prstGeom>
        </p:spPr>
      </p:pic>
      <p:sp>
        <p:nvSpPr>
          <p:cNvPr id="7" name="Text 3"/>
          <p:cNvSpPr/>
          <p:nvPr/>
        </p:nvSpPr>
        <p:spPr>
          <a:xfrm>
            <a:off x="4139446" y="4312206"/>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Offices &amp; Workplaces</a:t>
            </a:r>
            <a:endParaRPr lang="en-US" sz="2300" dirty="0"/>
          </a:p>
        </p:txBody>
      </p:sp>
      <p:sp>
        <p:nvSpPr>
          <p:cNvPr id="8" name="Text 4"/>
          <p:cNvSpPr/>
          <p:nvPr/>
        </p:nvSpPr>
        <p:spPr>
          <a:xfrm>
            <a:off x="4139446" y="4820364"/>
            <a:ext cx="3005614"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Restrict unauthorized entry. Keep workspaces safe and confidential.</a:t>
            </a:r>
            <a:endParaRPr lang="en-US" sz="1750" dirty="0"/>
          </a:p>
        </p:txBody>
      </p:sp>
      <p:pic>
        <p:nvPicPr>
          <p:cNvPr id="9" name="Image 2" descr="preencoded.png">    </p:cNvPr>
          <p:cNvPicPr>
            <a:picLocks noChangeAspect="1"/>
          </p:cNvPicPr>
          <p:nvPr/>
        </p:nvPicPr>
        <p:blipFill>
          <a:blip r:embed="rId3"/>
          <a:stretch>
            <a:fillRect/>
          </a:stretch>
        </p:blipFill>
        <p:spPr>
          <a:xfrm>
            <a:off x="7485221" y="3518416"/>
            <a:ext cx="566976" cy="566976"/>
          </a:xfrm>
          <a:prstGeom prst="rect">
            <a:avLst/>
          </a:prstGeom>
        </p:spPr>
      </p:pic>
      <p:sp>
        <p:nvSpPr>
          <p:cNvPr id="10" name="Text 5"/>
          <p:cNvSpPr/>
          <p:nvPr/>
        </p:nvSpPr>
        <p:spPr>
          <a:xfrm>
            <a:off x="7485221" y="4312206"/>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Hostels &amp; Schools</a:t>
            </a:r>
            <a:endParaRPr lang="en-US" sz="2300" dirty="0"/>
          </a:p>
        </p:txBody>
      </p:sp>
      <p:sp>
        <p:nvSpPr>
          <p:cNvPr id="11" name="Text 6"/>
          <p:cNvSpPr/>
          <p:nvPr/>
        </p:nvSpPr>
        <p:spPr>
          <a:xfrm>
            <a:off x="7485221" y="4820364"/>
            <a:ext cx="3005614"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Control access for students and staff. Guarantee a secure environment.</a:t>
            </a:r>
            <a:endParaRPr lang="en-US" sz="1750" dirty="0"/>
          </a:p>
        </p:txBody>
      </p:sp>
      <p:pic>
        <p:nvPicPr>
          <p:cNvPr id="12" name="Image 3" descr="preencoded.png">    </p:cNvPr>
          <p:cNvPicPr>
            <a:picLocks noChangeAspect="1"/>
          </p:cNvPicPr>
          <p:nvPr/>
        </p:nvPicPr>
        <p:blipFill>
          <a:blip r:embed="rId4"/>
          <a:stretch>
            <a:fillRect/>
          </a:stretch>
        </p:blipFill>
        <p:spPr>
          <a:xfrm>
            <a:off x="10830997" y="3518416"/>
            <a:ext cx="566976" cy="566976"/>
          </a:xfrm>
          <a:prstGeom prst="rect">
            <a:avLst/>
          </a:prstGeom>
        </p:spPr>
      </p:pic>
      <p:sp>
        <p:nvSpPr>
          <p:cNvPr id="13" name="Text 7"/>
          <p:cNvSpPr/>
          <p:nvPr/>
        </p:nvSpPr>
        <p:spPr>
          <a:xfrm>
            <a:off x="10830997" y="4312206"/>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Gyms &amp; Clubs</a:t>
            </a:r>
            <a:endParaRPr lang="en-US" sz="2300" dirty="0"/>
          </a:p>
        </p:txBody>
      </p:sp>
      <p:sp>
        <p:nvSpPr>
          <p:cNvPr id="14" name="Text 8"/>
          <p:cNvSpPr/>
          <p:nvPr/>
        </p:nvSpPr>
        <p:spPr>
          <a:xfrm>
            <a:off x="10830997" y="4820364"/>
            <a:ext cx="3005614" cy="1088708"/>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Member authentication. Simplify entry with efficient RFID tech.</a:t>
            </a: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794028"/>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Future Scope</a:t>
            </a:r>
            <a:endParaRPr lang="en-US" sz="4650" dirty="0"/>
          </a:p>
        </p:txBody>
      </p:sp>
      <p:pic>
        <p:nvPicPr>
          <p:cNvPr id="3" name="Image 0" descr="preencoded.png">    </p:cNvPr>
          <p:cNvPicPr>
            <a:picLocks noChangeAspect="1"/>
          </p:cNvPicPr>
          <p:nvPr/>
        </p:nvPicPr>
        <p:blipFill>
          <a:blip r:embed="rId1"/>
          <a:stretch>
            <a:fillRect/>
          </a:stretch>
        </p:blipFill>
        <p:spPr>
          <a:xfrm>
            <a:off x="793790" y="1991916"/>
            <a:ext cx="1134070" cy="1360884"/>
          </a:xfrm>
          <a:prstGeom prst="rect">
            <a:avLst/>
          </a:prstGeom>
        </p:spPr>
      </p:pic>
      <p:sp>
        <p:nvSpPr>
          <p:cNvPr id="4" name="Text 1"/>
          <p:cNvSpPr/>
          <p:nvPr/>
        </p:nvSpPr>
        <p:spPr>
          <a:xfrm>
            <a:off x="2268022" y="2218730"/>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Add IoT Connectivity</a:t>
            </a:r>
            <a:endParaRPr lang="en-US" sz="2300" dirty="0"/>
          </a:p>
        </p:txBody>
      </p:sp>
      <p:sp>
        <p:nvSpPr>
          <p:cNvPr id="5" name="Text 2"/>
          <p:cNvSpPr/>
          <p:nvPr/>
        </p:nvSpPr>
        <p:spPr>
          <a:xfrm>
            <a:off x="2268022" y="2726888"/>
            <a:ext cx="115685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Control door lock using a smartphone or web app. Enable remote access.</a:t>
            </a:r>
            <a:endParaRPr lang="en-US" sz="1750" dirty="0"/>
          </a:p>
        </p:txBody>
      </p:sp>
      <p:pic>
        <p:nvPicPr>
          <p:cNvPr id="6" name="Image 1" descr="preencoded.png">    </p:cNvPr>
          <p:cNvPicPr>
            <a:picLocks noChangeAspect="1"/>
          </p:cNvPicPr>
          <p:nvPr/>
        </p:nvPicPr>
        <p:blipFill>
          <a:blip r:embed="rId2"/>
          <a:stretch>
            <a:fillRect/>
          </a:stretch>
        </p:blipFill>
        <p:spPr>
          <a:xfrm>
            <a:off x="793790" y="3352800"/>
            <a:ext cx="1134070" cy="1360884"/>
          </a:xfrm>
          <a:prstGeom prst="rect">
            <a:avLst/>
          </a:prstGeom>
        </p:spPr>
      </p:pic>
      <p:sp>
        <p:nvSpPr>
          <p:cNvPr id="7" name="Text 3"/>
          <p:cNvSpPr/>
          <p:nvPr/>
        </p:nvSpPr>
        <p:spPr>
          <a:xfrm>
            <a:off x="2268022" y="3579614"/>
            <a:ext cx="2977039"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Integrate Biometrics</a:t>
            </a:r>
            <a:endParaRPr lang="en-US" sz="2300" dirty="0"/>
          </a:p>
        </p:txBody>
      </p:sp>
      <p:sp>
        <p:nvSpPr>
          <p:cNvPr id="8" name="Text 4"/>
          <p:cNvSpPr/>
          <p:nvPr/>
        </p:nvSpPr>
        <p:spPr>
          <a:xfrm>
            <a:off x="2268022" y="4087773"/>
            <a:ext cx="115685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Combine RFID with fingerprint or face recognition. Enhance security even further.</a:t>
            </a:r>
            <a:endParaRPr lang="en-US" sz="1750" dirty="0"/>
          </a:p>
        </p:txBody>
      </p:sp>
      <p:pic>
        <p:nvPicPr>
          <p:cNvPr id="9" name="Image 2" descr="preencoded.png">    </p:cNvPr>
          <p:cNvPicPr>
            <a:picLocks noChangeAspect="1"/>
          </p:cNvPicPr>
          <p:nvPr/>
        </p:nvPicPr>
        <p:blipFill>
          <a:blip r:embed="rId3"/>
          <a:stretch>
            <a:fillRect/>
          </a:stretch>
        </p:blipFill>
        <p:spPr>
          <a:xfrm>
            <a:off x="793790" y="4713684"/>
            <a:ext cx="1134070" cy="1360884"/>
          </a:xfrm>
          <a:prstGeom prst="rect">
            <a:avLst/>
          </a:prstGeom>
        </p:spPr>
      </p:pic>
      <p:sp>
        <p:nvSpPr>
          <p:cNvPr id="10" name="Text 5"/>
          <p:cNvSpPr/>
          <p:nvPr/>
        </p:nvSpPr>
        <p:spPr>
          <a:xfrm>
            <a:off x="2268022" y="4940498"/>
            <a:ext cx="3969544"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Enable Mobile Authentication</a:t>
            </a:r>
            <a:endParaRPr lang="en-US" sz="2300" dirty="0"/>
          </a:p>
        </p:txBody>
      </p:sp>
      <p:sp>
        <p:nvSpPr>
          <p:cNvPr id="11" name="Text 6"/>
          <p:cNvSpPr/>
          <p:nvPr/>
        </p:nvSpPr>
        <p:spPr>
          <a:xfrm>
            <a:off x="2268022" y="5448657"/>
            <a:ext cx="115685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Use NFC on mobile phones. This will serve as an alternative to RFID cards.</a:t>
            </a:r>
            <a:endParaRPr lang="en-US" sz="1750" dirty="0"/>
          </a:p>
        </p:txBody>
      </p:sp>
      <p:pic>
        <p:nvPicPr>
          <p:cNvPr id="12" name="Image 3" descr="preencoded.png">    </p:cNvPr>
          <p:cNvPicPr>
            <a:picLocks noChangeAspect="1"/>
          </p:cNvPicPr>
          <p:nvPr/>
        </p:nvPicPr>
        <p:blipFill>
          <a:blip r:embed="rId4"/>
          <a:stretch>
            <a:fillRect/>
          </a:stretch>
        </p:blipFill>
        <p:spPr>
          <a:xfrm>
            <a:off x="793790" y="6074569"/>
            <a:ext cx="1134070" cy="1360884"/>
          </a:xfrm>
          <a:prstGeom prst="rect">
            <a:avLst/>
          </a:prstGeom>
        </p:spPr>
      </p:pic>
      <p:sp>
        <p:nvSpPr>
          <p:cNvPr id="13" name="Text 7"/>
          <p:cNvSpPr/>
          <p:nvPr/>
        </p:nvSpPr>
        <p:spPr>
          <a:xfrm>
            <a:off x="2268022" y="6301383"/>
            <a:ext cx="3292554" cy="372070"/>
          </a:xfrm>
          <a:prstGeom prst="rect">
            <a:avLst/>
          </a:prstGeom>
          <a:noFill/>
          <a:ln/>
        </p:spPr>
        <p:txBody>
          <a:bodyPr wrap="none" lIns="0" tIns="0" rIns="0" bIns="0" rtlCol="0" anchor="t"/>
          <a:lstStyle/>
          <a:p>
            <a:pPr algn="l" indent="0" marL="0">
              <a:lnSpc>
                <a:spcPts val="2900"/>
              </a:lnSpc>
              <a:buNone/>
            </a:pPr>
            <a:r>
              <a:rPr lang="en-US" sz="2300" dirty="0">
                <a:solidFill>
                  <a:srgbClr val="383838"/>
                </a:solidFill>
                <a:latin typeface="PT Serif" pitchFamily="34" charset="0"/>
                <a:ea typeface="PT Serif" pitchFamily="34" charset="-122"/>
                <a:cs typeface="PT Serif" pitchFamily="34" charset="-120"/>
              </a:rPr>
              <a:t>Implement Data Logging</a:t>
            </a:r>
            <a:endParaRPr lang="en-US" sz="2300" dirty="0"/>
          </a:p>
        </p:txBody>
      </p:sp>
      <p:sp>
        <p:nvSpPr>
          <p:cNvPr id="14" name="Text 8"/>
          <p:cNvSpPr/>
          <p:nvPr/>
        </p:nvSpPr>
        <p:spPr>
          <a:xfrm>
            <a:off x="2268022" y="6809542"/>
            <a:ext cx="1156858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Log all access events. Track entries for better security and auditing.</a:t>
            </a: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624846"/>
            <a:ext cx="5954197" cy="744260"/>
          </a:xfrm>
          <a:prstGeom prst="rect">
            <a:avLst/>
          </a:prstGeom>
          <a:noFill/>
          <a:ln/>
        </p:spPr>
        <p:txBody>
          <a:bodyPr wrap="none" lIns="0" tIns="0" rIns="0" bIns="0" rtlCol="0" anchor="t"/>
          <a:lstStyle/>
          <a:p>
            <a:pPr algn="l" indent="0" marL="0">
              <a:lnSpc>
                <a:spcPts val="5850"/>
              </a:lnSpc>
              <a:buNone/>
            </a:pPr>
            <a:r>
              <a:rPr lang="en-US" sz="4650" dirty="0">
                <a:solidFill>
                  <a:srgbClr val="020202"/>
                </a:solidFill>
                <a:latin typeface="PT Serif" pitchFamily="34" charset="0"/>
                <a:ea typeface="PT Serif" pitchFamily="34" charset="-122"/>
                <a:cs typeface="PT Serif" pitchFamily="34" charset="-120"/>
              </a:rPr>
              <a:t>Final Summary</a:t>
            </a:r>
            <a:endParaRPr lang="en-US" sz="4650" dirty="0"/>
          </a:p>
        </p:txBody>
      </p:sp>
      <p:sp>
        <p:nvSpPr>
          <p:cNvPr id="4" name="Text 1"/>
          <p:cNvSpPr/>
          <p:nvPr/>
        </p:nvSpPr>
        <p:spPr>
          <a:xfrm>
            <a:off x="793790" y="2709267"/>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In summary, our system offers enhanced security. It combines RFID with password protection.</a:t>
            </a:r>
            <a:endParaRPr lang="en-US" sz="1750" dirty="0"/>
          </a:p>
        </p:txBody>
      </p:sp>
      <p:sp>
        <p:nvSpPr>
          <p:cNvPr id="5" name="Text 2"/>
          <p:cNvSpPr/>
          <p:nvPr/>
        </p:nvSpPr>
        <p:spPr>
          <a:xfrm>
            <a:off x="793790" y="3690223"/>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This approach overcomes limitations of other systems. It prevents hacking and cloning.</a:t>
            </a:r>
            <a:endParaRPr lang="en-US" sz="1750" dirty="0"/>
          </a:p>
        </p:txBody>
      </p:sp>
      <p:sp>
        <p:nvSpPr>
          <p:cNvPr id="6" name="Text 3"/>
          <p:cNvSpPr/>
          <p:nvPr/>
        </p:nvSpPr>
        <p:spPr>
          <a:xfrm>
            <a:off x="793790" y="4671179"/>
            <a:ext cx="75564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Our system meets real-world security needs.</a:t>
            </a:r>
            <a:endParaRPr lang="en-US" sz="1750" dirty="0"/>
          </a:p>
        </p:txBody>
      </p:sp>
      <p:sp>
        <p:nvSpPr>
          <p:cNvPr id="7" name="Text 4"/>
          <p:cNvSpPr/>
          <p:nvPr/>
        </p:nvSpPr>
        <p:spPr>
          <a:xfrm>
            <a:off x="793790" y="5113377"/>
            <a:ext cx="75564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It is highly adaptable for various applications.</a:t>
            </a:r>
            <a:endParaRPr lang="en-US" sz="1750" dirty="0"/>
          </a:p>
        </p:txBody>
      </p:sp>
      <p:sp>
        <p:nvSpPr>
          <p:cNvPr id="8" name="Text 5"/>
          <p:cNvSpPr/>
          <p:nvPr/>
        </p:nvSpPr>
        <p:spPr>
          <a:xfrm>
            <a:off x="1133951" y="5986582"/>
            <a:ext cx="7216259" cy="362903"/>
          </a:xfrm>
          <a:prstGeom prst="rect">
            <a:avLst/>
          </a:prstGeom>
          <a:noFill/>
          <a:ln/>
        </p:spPr>
        <p:txBody>
          <a:bodyPr wrap="none" lIns="0" tIns="0" rIns="0" bIns="0" rtlCol="0" anchor="t"/>
          <a:lstStyle/>
          <a:p>
            <a:pPr algn="l" indent="0" marL="0">
              <a:lnSpc>
                <a:spcPts val="2850"/>
              </a:lnSpc>
              <a:buNone/>
            </a:pPr>
            <a:r>
              <a:rPr lang="en-US" sz="1750" dirty="0">
                <a:solidFill>
                  <a:srgbClr val="383838"/>
                </a:solidFill>
                <a:latin typeface="DM Sans" pitchFamily="34" charset="0"/>
                <a:ea typeface="DM Sans" pitchFamily="34" charset="-122"/>
                <a:cs typeface="DM Sans" pitchFamily="34" charset="-120"/>
              </a:rPr>
              <a:t>Thank you! Questions?</a:t>
            </a:r>
            <a:endParaRPr lang="en-US" sz="1750" dirty="0"/>
          </a:p>
        </p:txBody>
      </p:sp>
      <p:sp>
        <p:nvSpPr>
          <p:cNvPr id="9" name="Shape 6"/>
          <p:cNvSpPr/>
          <p:nvPr/>
        </p:nvSpPr>
        <p:spPr>
          <a:xfrm>
            <a:off x="793790" y="5731431"/>
            <a:ext cx="30480" cy="873204"/>
          </a:xfrm>
          <a:prstGeom prst="rect">
            <a:avLst/>
          </a:prstGeom>
          <a:solidFill>
            <a:srgbClr val="E04F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2025-04-08T16:48:39Z</dcterms:created>
  <dcterms:modified xsi:type="dcterms:W3CDTF">2025-04-08T16:48:39Z</dcterms:modified>
</cp:coreProperties>
</file>